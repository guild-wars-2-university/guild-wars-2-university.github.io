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73" r:id="rId1"/>
  </p:sldMasterIdLst>
  <p:sldIdLst>
    <p:sldId id="257" r:id="rId2"/>
    <p:sldId id="261" r:id="rId3"/>
    <p:sldId id="262" r:id="rId4"/>
    <p:sldId id="268" r:id="rId5"/>
    <p:sldId id="263" r:id="rId6"/>
    <p:sldId id="264" r:id="rId7"/>
    <p:sldId id="265" r:id="rId8"/>
    <p:sldId id="266" r:id="rId9"/>
    <p:sldId id="26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4529"/>
    <a:srgbClr val="2B3922"/>
    <a:srgbClr val="2E3722"/>
    <a:srgbClr val="FCF7F1"/>
    <a:srgbClr val="B8D233"/>
    <a:srgbClr val="5CC6D6"/>
    <a:srgbClr val="F8D22F"/>
    <a:srgbClr val="F03F2B"/>
    <a:srgbClr val="3488A0"/>
    <a:srgbClr val="5790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098" autoAdjust="0"/>
    <p:restoredTop sz="94660"/>
  </p:normalViewPr>
  <p:slideViewPr>
    <p:cSldViewPr snapToGrid="0">
      <p:cViewPr varScale="1">
        <p:scale>
          <a:sx n="114" d="100"/>
          <a:sy n="114" d="100"/>
        </p:scale>
        <p:origin x="103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4/23/2022</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4147770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4/23/2022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153708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4/23/2022</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606071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4/23/2022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744672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4/23/2022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929960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4/23/2022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667413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4/23/2022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907247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4/23/2022</a:t>
            </a:fld>
            <a:endParaRPr lang="en-US"/>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2488602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4/23/2022</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678223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4F40B7-36AB-4376-BE14-EF7004D79BB9}" type="datetime1">
              <a:rPr lang="en-US" smtClean="0"/>
              <a:t>4/23/2022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4023329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7CAB8-DCAE-46A5-AADA-B3FAD11A54E0}" type="datetime1">
              <a:rPr lang="en-US" smtClean="0"/>
              <a:t>4/23/2022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510073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4/23/2022</a:t>
            </a:fld>
            <a:endParaRPr lang="en-US"/>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381157763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65" r:id="rId5"/>
    <p:sldLayoutId id="2147483671" r:id="rId6"/>
    <p:sldLayoutId id="2147483672" r:id="rId7"/>
    <p:sldLayoutId id="2147483662" r:id="rId8"/>
    <p:sldLayoutId id="2147483663" r:id="rId9"/>
    <p:sldLayoutId id="2147483664" r:id="rId10"/>
    <p:sldLayoutId id="2147483666" r:id="rId11"/>
  </p:sldLayoutIdLst>
  <p:hf sldNum="0" hdr="0" ftr="0" dt="0"/>
  <p:txStyles>
    <p:title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 close up of a logo&#10;&#10;Description automatically generated">
            <a:extLst>
              <a:ext uri="{FF2B5EF4-FFF2-40B4-BE49-F238E27FC236}">
                <a16:creationId xmlns:a16="http://schemas.microsoft.com/office/drawing/2014/main" id="{8045422F-7258-40AC-BD2E-2469AA448922}"/>
              </a:ext>
            </a:extLst>
          </p:cNvPr>
          <p:cNvPicPr>
            <a:picLocks noChangeAspect="1"/>
          </p:cNvPicPr>
          <p:nvPr/>
        </p:nvPicPr>
        <p:blipFill rotWithShape="1">
          <a:blip r:embed="rId2">
            <a:extLst>
              <a:ext uri="{28A0092B-C50C-407E-A947-70E740481C1C}">
                <a14:useLocalDpi xmlns:a14="http://schemas.microsoft.com/office/drawing/2010/main" val="0"/>
              </a:ext>
            </a:extLst>
          </a:blip>
          <a:srcRect r="-1"/>
          <a:stretch/>
        </p:blipFill>
        <p:spPr>
          <a:xfrm>
            <a:off x="20" y="10"/>
            <a:ext cx="12191979" cy="6857990"/>
          </a:xfrm>
          <a:prstGeom prst="rect">
            <a:avLst/>
          </a:prstGeom>
        </p:spPr>
      </p:pic>
      <p:sp>
        <p:nvSpPr>
          <p:cNvPr id="82" name="Rectangle 81">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5067" y="1808532"/>
            <a:ext cx="5452527" cy="3240936"/>
          </a:xfrm>
          <a:prstGeom prst="rect">
            <a:avLst/>
          </a:prstGeom>
          <a:solidFill>
            <a:schemeClr val="bg1">
              <a:lumMod val="75000"/>
              <a:lumOff val="25000"/>
            </a:schemeClr>
          </a:solidFill>
          <a:ln w="6350" cap="sq" cmpd="sng" algn="ctr">
            <a:noFill/>
            <a:prstDash val="solid"/>
            <a:miter lim="800000"/>
          </a:ln>
          <a:effectLst/>
        </p:spPr>
      </p:sp>
      <p:sp>
        <p:nvSpPr>
          <p:cNvPr id="84" name="Rectangle 83">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61010" y="1975104"/>
            <a:ext cx="5120640" cy="2907792"/>
          </a:xfrm>
          <a:prstGeom prst="rect">
            <a:avLst/>
          </a:prstGeom>
          <a:noFill/>
          <a:ln w="6350" cap="sq" cmpd="sng" algn="ctr">
            <a:solidFill>
              <a:schemeClr val="tx1"/>
            </a:solidFill>
            <a:prstDash val="solid"/>
            <a:miter lim="800000"/>
          </a:ln>
          <a:effectLst>
            <a:softEdge rad="0"/>
          </a:effectLst>
        </p:spPr>
      </p:sp>
      <p:sp>
        <p:nvSpPr>
          <p:cNvPr id="2" name="Title 1">
            <a:extLst>
              <a:ext uri="{FF2B5EF4-FFF2-40B4-BE49-F238E27FC236}">
                <a16:creationId xmlns:a16="http://schemas.microsoft.com/office/drawing/2014/main" id="{18C3B467-088C-4F3D-A9A7-105C4E1E20CD}"/>
              </a:ext>
            </a:extLst>
          </p:cNvPr>
          <p:cNvSpPr>
            <a:spLocks noGrp="1"/>
          </p:cNvSpPr>
          <p:nvPr>
            <p:ph type="ctrTitle"/>
          </p:nvPr>
        </p:nvSpPr>
        <p:spPr>
          <a:xfrm>
            <a:off x="6096000" y="2046558"/>
            <a:ext cx="4775075" cy="2387369"/>
          </a:xfrm>
        </p:spPr>
        <p:txBody>
          <a:bodyPr>
            <a:normAutofit/>
          </a:bodyPr>
          <a:lstStyle/>
          <a:p>
            <a:r>
              <a:rPr lang="en-US" sz="4400" dirty="0">
                <a:solidFill>
                  <a:schemeClr val="tx1"/>
                </a:solidFill>
              </a:rPr>
              <a:t>Uncategorized Fractal</a:t>
            </a:r>
            <a:br>
              <a:rPr lang="en-US" sz="4400" dirty="0">
                <a:solidFill>
                  <a:schemeClr val="tx1"/>
                </a:solidFill>
              </a:rPr>
            </a:br>
            <a:r>
              <a:rPr lang="en-US" sz="4400" dirty="0">
                <a:solidFill>
                  <a:schemeClr val="tx1"/>
                </a:solidFill>
              </a:rPr>
              <a:t>Scales: 2, 36, 44, 62, 79, 91</a:t>
            </a:r>
          </a:p>
        </p:txBody>
      </p:sp>
      <p:sp>
        <p:nvSpPr>
          <p:cNvPr id="3" name="Subtitle 2">
            <a:extLst>
              <a:ext uri="{FF2B5EF4-FFF2-40B4-BE49-F238E27FC236}">
                <a16:creationId xmlns:a16="http://schemas.microsoft.com/office/drawing/2014/main" id="{C8722DDC-8EEE-4A06-8DFE-B44871EAA2CF}"/>
              </a:ext>
            </a:extLst>
          </p:cNvPr>
          <p:cNvSpPr>
            <a:spLocks noGrp="1"/>
          </p:cNvSpPr>
          <p:nvPr>
            <p:ph type="subTitle" idx="1"/>
          </p:nvPr>
        </p:nvSpPr>
        <p:spPr>
          <a:xfrm>
            <a:off x="9498907" y="4600499"/>
            <a:ext cx="1482743" cy="282397"/>
          </a:xfrm>
        </p:spPr>
        <p:txBody>
          <a:bodyPr>
            <a:normAutofit/>
          </a:bodyPr>
          <a:lstStyle/>
          <a:p>
            <a:pPr>
              <a:spcAft>
                <a:spcPts val="600"/>
              </a:spcAft>
            </a:pPr>
            <a:r>
              <a:rPr lang="en-US" sz="1100" dirty="0">
                <a:solidFill>
                  <a:schemeClr val="tx1"/>
                </a:solidFill>
              </a:rPr>
              <a:t>By: Michie.4352</a:t>
            </a:r>
          </a:p>
        </p:txBody>
      </p:sp>
      <p:pic>
        <p:nvPicPr>
          <p:cNvPr id="1028" name="Picture 4">
            <a:extLst>
              <a:ext uri="{FF2B5EF4-FFF2-40B4-BE49-F238E27FC236}">
                <a16:creationId xmlns:a16="http://schemas.microsoft.com/office/drawing/2014/main" id="{02A56C93-7A8D-402A-96D8-44071FFA8A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823" y="1233051"/>
            <a:ext cx="5067300" cy="4257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4280759"/>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155700" y="503562"/>
            <a:ext cx="6407791" cy="1371600"/>
          </a:xfrm>
        </p:spPr>
        <p:txBody>
          <a:bodyPr>
            <a:normAutofit/>
          </a:bodyPr>
          <a:lstStyle/>
          <a:p>
            <a:pPr algn="ctr"/>
            <a:r>
              <a:rPr lang="en-US" dirty="0"/>
              <a:t>1. Jumping Puzzle (JP)</a:t>
            </a:r>
          </a:p>
        </p:txBody>
      </p:sp>
      <p:sp>
        <p:nvSpPr>
          <p:cNvPr id="3" name="Content Placeholder 2">
            <a:extLst>
              <a:ext uri="{FF2B5EF4-FFF2-40B4-BE49-F238E27FC236}">
                <a16:creationId xmlns:a16="http://schemas.microsoft.com/office/drawing/2014/main" id="{0182BFDB-F4EE-422C-BDF2-DBB50171A3FB}"/>
              </a:ext>
            </a:extLst>
          </p:cNvPr>
          <p:cNvSpPr>
            <a:spLocks noGrp="1"/>
          </p:cNvSpPr>
          <p:nvPr>
            <p:ph idx="1"/>
          </p:nvPr>
        </p:nvSpPr>
        <p:spPr>
          <a:xfrm>
            <a:off x="1613512" y="1875162"/>
            <a:ext cx="4940300" cy="4018306"/>
          </a:xfrm>
        </p:spPr>
        <p:txBody>
          <a:bodyPr>
            <a:normAutofit/>
          </a:bodyPr>
          <a:lstStyle/>
          <a:p>
            <a:r>
              <a:rPr lang="en-US" dirty="0"/>
              <a:t>While jumping each platform, there are a few Harpies using their long range attacks </a:t>
            </a:r>
          </a:p>
          <a:p>
            <a:pPr lvl="1"/>
            <a:r>
              <a:rPr lang="en-US" dirty="0"/>
              <a:t>Avoid their attacks! Otherwise, you won’t make the next jump…</a:t>
            </a:r>
          </a:p>
          <a:p>
            <a:r>
              <a:rPr lang="en-US" dirty="0"/>
              <a:t>There’s another skill that Harpies can use!</a:t>
            </a:r>
          </a:p>
          <a:p>
            <a:pPr lvl="1"/>
            <a:r>
              <a:rPr lang="en-US" dirty="0"/>
              <a:t>It’s a red AOE that you’ll see on a platform that looks like static on the ground. If you see it, stay out of it! Once it activates and you’re in it, you will get knocked off the platform!</a:t>
            </a:r>
          </a:p>
          <a:p>
            <a:r>
              <a:rPr lang="en-US" dirty="0"/>
              <a:t>Advice: Kill all of the Harpies as you go up the JP</a:t>
            </a:r>
          </a:p>
          <a:p>
            <a:pPr lvl="1"/>
            <a:r>
              <a:rPr lang="en-US" dirty="0"/>
              <a:t>Once you kill all of the Harpies, everyone will be able to use “/gg” to teleport to the top! It won’t make a difference if you have one teammate make it to the top if the Harpies aren’t all killed yet.</a:t>
            </a:r>
          </a:p>
        </p:txBody>
      </p:sp>
      <p:pic>
        <p:nvPicPr>
          <p:cNvPr id="5" name="Picture 2" descr="Uncategorized-Fractal-enter-the-ruins(5) - Guild Wars 2 Life">
            <a:extLst>
              <a:ext uri="{FF2B5EF4-FFF2-40B4-BE49-F238E27FC236}">
                <a16:creationId xmlns:a16="http://schemas.microsoft.com/office/drawing/2014/main" id="{B21AB478-67FE-4614-8E41-69F377D4CF8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836" r="17635" b="15352"/>
          <a:stretch/>
        </p:blipFill>
        <p:spPr bwMode="auto">
          <a:xfrm>
            <a:off x="7011623" y="1370318"/>
            <a:ext cx="4536230" cy="4662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243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39D20-DE7F-4F71-B465-A843148412F2}"/>
              </a:ext>
            </a:extLst>
          </p:cNvPr>
          <p:cNvSpPr>
            <a:spLocks noGrp="1"/>
          </p:cNvSpPr>
          <p:nvPr>
            <p:ph type="title"/>
          </p:nvPr>
        </p:nvSpPr>
        <p:spPr/>
        <p:txBody>
          <a:bodyPr/>
          <a:lstStyle/>
          <a:p>
            <a:pPr algn="ctr"/>
            <a:r>
              <a:rPr lang="en-US" dirty="0"/>
              <a:t>2. Mini Boss Fight – 4 to be Exact! Pt. 1</a:t>
            </a:r>
          </a:p>
        </p:txBody>
      </p:sp>
      <p:sp>
        <p:nvSpPr>
          <p:cNvPr id="3" name="Content Placeholder 2">
            <a:extLst>
              <a:ext uri="{FF2B5EF4-FFF2-40B4-BE49-F238E27FC236}">
                <a16:creationId xmlns:a16="http://schemas.microsoft.com/office/drawing/2014/main" id="{030C3688-46F0-4851-90D5-312D90567196}"/>
              </a:ext>
            </a:extLst>
          </p:cNvPr>
          <p:cNvSpPr>
            <a:spLocks noGrp="1"/>
          </p:cNvSpPr>
          <p:nvPr>
            <p:ph idx="1"/>
          </p:nvPr>
        </p:nvSpPr>
        <p:spPr>
          <a:xfrm>
            <a:off x="1066800" y="2103120"/>
            <a:ext cx="4377655" cy="3849624"/>
          </a:xfrm>
        </p:spPr>
        <p:txBody>
          <a:bodyPr>
            <a:normAutofit/>
          </a:bodyPr>
          <a:lstStyle/>
          <a:p>
            <a:r>
              <a:rPr lang="en-US" dirty="0"/>
              <a:t>Best Strat: Kill the Bosses from Smallest to Largest!</a:t>
            </a:r>
          </a:p>
          <a:p>
            <a:pPr lvl="1"/>
            <a:r>
              <a:rPr lang="en-US" dirty="0"/>
              <a:t>First Boss: Rabbit Champ</a:t>
            </a:r>
          </a:p>
          <a:p>
            <a:pPr lvl="2"/>
            <a:r>
              <a:rPr lang="en-US" dirty="0"/>
              <a:t>Watch OUT for its ONE HIT K.O. – How? The Boss will come out first before the other Bosses come out so you should aim to skill the Rabbit Champ before the other three bosses gather together. There will be a CC (Blue) Bar at the very beginning. Use Fast CCs to stun the Champ and kill as fast as you can!</a:t>
            </a:r>
          </a:p>
          <a:p>
            <a:pPr lvl="1"/>
            <a:r>
              <a:rPr lang="en-US" dirty="0"/>
              <a:t>Second Boss: Bandit</a:t>
            </a:r>
          </a:p>
          <a:p>
            <a:pPr lvl="2"/>
            <a:r>
              <a:rPr lang="en-US" dirty="0"/>
              <a:t>Easy Kill with low health – If you have not finished killing the rabbit champ yet, lure both the Rabbit and the Bandit and kill them together</a:t>
            </a:r>
          </a:p>
        </p:txBody>
      </p:sp>
      <p:pic>
        <p:nvPicPr>
          <p:cNvPr id="5" name="Picture 4">
            <a:extLst>
              <a:ext uri="{FF2B5EF4-FFF2-40B4-BE49-F238E27FC236}">
                <a16:creationId xmlns:a16="http://schemas.microsoft.com/office/drawing/2014/main" id="{E5F2280F-9651-41F0-9538-F2C950C5ACE8}"/>
              </a:ext>
            </a:extLst>
          </p:cNvPr>
          <p:cNvPicPr>
            <a:picLocks noChangeAspect="1"/>
          </p:cNvPicPr>
          <p:nvPr/>
        </p:nvPicPr>
        <p:blipFill>
          <a:blip r:embed="rId2"/>
          <a:stretch>
            <a:fillRect/>
          </a:stretch>
        </p:blipFill>
        <p:spPr>
          <a:xfrm>
            <a:off x="8291469" y="1633406"/>
            <a:ext cx="3276600" cy="2819400"/>
          </a:xfrm>
          <a:prstGeom prst="rect">
            <a:avLst/>
          </a:prstGeom>
        </p:spPr>
      </p:pic>
      <p:pic>
        <p:nvPicPr>
          <p:cNvPr id="7" name="Picture 6">
            <a:extLst>
              <a:ext uri="{FF2B5EF4-FFF2-40B4-BE49-F238E27FC236}">
                <a16:creationId xmlns:a16="http://schemas.microsoft.com/office/drawing/2014/main" id="{6A674435-1DD4-4251-818E-C434938CFC0C}"/>
              </a:ext>
            </a:extLst>
          </p:cNvPr>
          <p:cNvPicPr>
            <a:picLocks noChangeAspect="1"/>
          </p:cNvPicPr>
          <p:nvPr/>
        </p:nvPicPr>
        <p:blipFill>
          <a:blip r:embed="rId3"/>
          <a:stretch>
            <a:fillRect/>
          </a:stretch>
        </p:blipFill>
        <p:spPr>
          <a:xfrm>
            <a:off x="5752881" y="2543043"/>
            <a:ext cx="2447925" cy="3819525"/>
          </a:xfrm>
          <a:prstGeom prst="rect">
            <a:avLst/>
          </a:prstGeom>
        </p:spPr>
      </p:pic>
    </p:spTree>
    <p:extLst>
      <p:ext uri="{BB962C8B-B14F-4D97-AF65-F5344CB8AC3E}">
        <p14:creationId xmlns:p14="http://schemas.microsoft.com/office/powerpoint/2010/main" val="16169788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F7D4B-DBFD-4E0B-A725-C6B30267FDA1}"/>
              </a:ext>
            </a:extLst>
          </p:cNvPr>
          <p:cNvSpPr>
            <a:spLocks noGrp="1"/>
          </p:cNvSpPr>
          <p:nvPr>
            <p:ph type="title"/>
          </p:nvPr>
        </p:nvSpPr>
        <p:spPr>
          <a:xfrm>
            <a:off x="1066800" y="441259"/>
            <a:ext cx="10058400" cy="1371600"/>
          </a:xfrm>
        </p:spPr>
        <p:txBody>
          <a:bodyPr/>
          <a:lstStyle/>
          <a:p>
            <a:r>
              <a:rPr lang="en-US" dirty="0"/>
              <a:t>3. Mini Boss Fight – 4 to be Exact! Pt. 2</a:t>
            </a:r>
          </a:p>
        </p:txBody>
      </p:sp>
      <p:sp>
        <p:nvSpPr>
          <p:cNvPr id="3" name="Content Placeholder 2">
            <a:extLst>
              <a:ext uri="{FF2B5EF4-FFF2-40B4-BE49-F238E27FC236}">
                <a16:creationId xmlns:a16="http://schemas.microsoft.com/office/drawing/2014/main" id="{A4EBC204-5EED-4A2E-86A7-7B35BA190AB2}"/>
              </a:ext>
            </a:extLst>
          </p:cNvPr>
          <p:cNvSpPr>
            <a:spLocks noGrp="1"/>
          </p:cNvSpPr>
          <p:nvPr>
            <p:ph idx="1"/>
          </p:nvPr>
        </p:nvSpPr>
        <p:spPr>
          <a:xfrm>
            <a:off x="1066800" y="1844361"/>
            <a:ext cx="5409501" cy="3849624"/>
          </a:xfrm>
        </p:spPr>
        <p:txBody>
          <a:bodyPr/>
          <a:lstStyle/>
          <a:p>
            <a:pPr lvl="1"/>
            <a:r>
              <a:rPr lang="en-US" dirty="0"/>
              <a:t>Third Boss: Flame Legion Charr</a:t>
            </a:r>
          </a:p>
          <a:p>
            <a:pPr lvl="2"/>
            <a:r>
              <a:rPr lang="en-US" dirty="0"/>
              <a:t>Watch OUT for Projectiles – How? When the Charr shoots out Fire Projectiles and it touches the ground, it creates a lava AOE that stays on the ground that stays for a while before it disappears. Stay out of those AOEs and kill. There will be CC bars popping up every so often that you can also utilize. For this boss, you can also use reflect against these projectiles!</a:t>
            </a:r>
          </a:p>
          <a:p>
            <a:pPr lvl="1"/>
            <a:r>
              <a:rPr lang="en-US" dirty="0"/>
              <a:t>Last Boss: </a:t>
            </a:r>
            <a:r>
              <a:rPr lang="en-US" dirty="0" err="1"/>
              <a:t>Ettin</a:t>
            </a:r>
            <a:endParaRPr lang="en-US" dirty="0"/>
          </a:p>
          <a:p>
            <a:pPr lvl="2"/>
            <a:r>
              <a:rPr lang="en-US" dirty="0"/>
              <a:t>Watch out for its SMASH – How? When </a:t>
            </a:r>
            <a:r>
              <a:rPr lang="en-US" dirty="0" err="1"/>
              <a:t>Ettin</a:t>
            </a:r>
            <a:r>
              <a:rPr lang="en-US" dirty="0"/>
              <a:t> smashes the ground, he creates a large AOE that deals a lot of damage that can also knock you back. If you haven’t killed Charr yet, lure both </a:t>
            </a:r>
            <a:r>
              <a:rPr lang="en-US" dirty="0" err="1"/>
              <a:t>Ettin</a:t>
            </a:r>
            <a:r>
              <a:rPr lang="en-US" dirty="0"/>
              <a:t> and Charr together and cleave them as fast as possible. </a:t>
            </a:r>
          </a:p>
          <a:p>
            <a:r>
              <a:rPr lang="en-US" dirty="0"/>
              <a:t>Note: It’s a 5 Man Party! You should have a healer with you. Get used to stacking together with your healer to get boons and heals for more DPS!</a:t>
            </a:r>
          </a:p>
          <a:p>
            <a:endParaRPr lang="en-US" dirty="0"/>
          </a:p>
        </p:txBody>
      </p:sp>
      <p:pic>
        <p:nvPicPr>
          <p:cNvPr id="4098" name="Picture 2" descr="GW2 - Uncategorized Fractal Guide - GuildJen">
            <a:extLst>
              <a:ext uri="{FF2B5EF4-FFF2-40B4-BE49-F238E27FC236}">
                <a16:creationId xmlns:a16="http://schemas.microsoft.com/office/drawing/2014/main" id="{5213B7B1-A880-474B-AD58-AFD5C24CF5D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498" t="1857" r="5322" b="9539"/>
          <a:stretch/>
        </p:blipFill>
        <p:spPr bwMode="auto">
          <a:xfrm>
            <a:off x="7038362" y="1591008"/>
            <a:ext cx="4278386" cy="46697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4294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B56F7-F409-418A-9C86-F18156794641}"/>
              </a:ext>
            </a:extLst>
          </p:cNvPr>
          <p:cNvSpPr>
            <a:spLocks noGrp="1"/>
          </p:cNvSpPr>
          <p:nvPr>
            <p:ph type="title"/>
          </p:nvPr>
        </p:nvSpPr>
        <p:spPr>
          <a:xfrm>
            <a:off x="1066800" y="397447"/>
            <a:ext cx="10058400" cy="1371600"/>
          </a:xfrm>
        </p:spPr>
        <p:txBody>
          <a:bodyPr/>
          <a:lstStyle/>
          <a:p>
            <a:pPr algn="ctr"/>
            <a:r>
              <a:rPr lang="en-US" dirty="0"/>
              <a:t>3. Mini Game – Laser Ramp</a:t>
            </a:r>
          </a:p>
        </p:txBody>
      </p:sp>
      <p:sp>
        <p:nvSpPr>
          <p:cNvPr id="3" name="Content Placeholder 2">
            <a:extLst>
              <a:ext uri="{FF2B5EF4-FFF2-40B4-BE49-F238E27FC236}">
                <a16:creationId xmlns:a16="http://schemas.microsoft.com/office/drawing/2014/main" id="{1C34F08C-6F53-4C7D-9FB6-B9C425CEB760}"/>
              </a:ext>
            </a:extLst>
          </p:cNvPr>
          <p:cNvSpPr>
            <a:spLocks noGrp="1"/>
          </p:cNvSpPr>
          <p:nvPr>
            <p:ph idx="1"/>
          </p:nvPr>
        </p:nvSpPr>
        <p:spPr>
          <a:xfrm>
            <a:off x="372037" y="1385494"/>
            <a:ext cx="5558980" cy="1493239"/>
          </a:xfrm>
        </p:spPr>
        <p:txBody>
          <a:bodyPr>
            <a:normAutofit/>
          </a:bodyPr>
          <a:lstStyle/>
          <a:p>
            <a:r>
              <a:rPr lang="en-US" dirty="0"/>
              <a:t>Just go up the Ramp! </a:t>
            </a:r>
          </a:p>
          <a:p>
            <a:pPr lvl="1"/>
            <a:r>
              <a:rPr lang="en-US" dirty="0"/>
              <a:t>Oh right, there will be four different lasers randomly coming down the ramp. If you get hit by those lasers until your HP goes down, you will be teleported to the bottom of the ramp again.</a:t>
            </a:r>
          </a:p>
          <a:p>
            <a:pPr lvl="1"/>
            <a:endParaRPr lang="en-US" dirty="0"/>
          </a:p>
        </p:txBody>
      </p:sp>
      <p:pic>
        <p:nvPicPr>
          <p:cNvPr id="5122" name="Picture 2" descr="GW2 - Uncategorized Fractal Guide - GuildJen">
            <a:extLst>
              <a:ext uri="{FF2B5EF4-FFF2-40B4-BE49-F238E27FC236}">
                <a16:creationId xmlns:a16="http://schemas.microsoft.com/office/drawing/2014/main" id="{DE7478DA-91A4-414B-AFD3-B439C32347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1528" y="2467108"/>
            <a:ext cx="2562126" cy="2562126"/>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GW2 - Uncategorized Fractal Guide - GuildJen">
            <a:extLst>
              <a:ext uri="{FF2B5EF4-FFF2-40B4-BE49-F238E27FC236}">
                <a16:creationId xmlns:a16="http://schemas.microsoft.com/office/drawing/2014/main" id="{14204950-9488-417C-A4B7-D8018130318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093" t="16269" r="13873" b="12172"/>
          <a:stretch/>
        </p:blipFill>
        <p:spPr bwMode="auto">
          <a:xfrm>
            <a:off x="1679197" y="2508878"/>
            <a:ext cx="2397854" cy="255975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B6E8A76-4383-416A-A898-E1BDE1A42A29}"/>
              </a:ext>
            </a:extLst>
          </p:cNvPr>
          <p:cNvSpPr txBox="1"/>
          <p:nvPr/>
        </p:nvSpPr>
        <p:spPr>
          <a:xfrm>
            <a:off x="5823482" y="1385494"/>
            <a:ext cx="5936621" cy="1123384"/>
          </a:xfrm>
          <a:prstGeom prst="rect">
            <a:avLst/>
          </a:prstGeom>
          <a:noFill/>
        </p:spPr>
        <p:txBody>
          <a:bodyPr wrap="square">
            <a:spAutoFit/>
          </a:bodyPr>
          <a:lstStyle/>
          <a:p>
            <a:pPr marL="285750" indent="-285750">
              <a:buFont typeface="Courier New" panose="02070309020205020404" pitchFamily="49" charset="0"/>
              <a:buChar char="o"/>
            </a:pPr>
            <a:r>
              <a:rPr lang="en-US" sz="1500" dirty="0"/>
              <a:t>Should be Easy Enough! I think.. There’s more though!</a:t>
            </a:r>
          </a:p>
          <a:p>
            <a:pPr marL="742950" lvl="1" indent="-285750">
              <a:buFont typeface="Courier New" panose="02070309020205020404" pitchFamily="49" charset="0"/>
              <a:buChar char="o"/>
            </a:pPr>
            <a:r>
              <a:rPr lang="en-US" sz="1300" dirty="0"/>
              <a:t>Once you make it to the top, you will need to interact with three different panels at the same time to stop the lasers from popping out. So, you’ll need three of your teammate to get to the top to interact with them.</a:t>
            </a:r>
          </a:p>
        </p:txBody>
      </p:sp>
      <p:sp>
        <p:nvSpPr>
          <p:cNvPr id="9" name="TextBox 8">
            <a:extLst>
              <a:ext uri="{FF2B5EF4-FFF2-40B4-BE49-F238E27FC236}">
                <a16:creationId xmlns:a16="http://schemas.microsoft.com/office/drawing/2014/main" id="{AA4ACB19-286C-4F94-940F-87D20607D7A0}"/>
              </a:ext>
            </a:extLst>
          </p:cNvPr>
          <p:cNvSpPr txBox="1"/>
          <p:nvPr/>
        </p:nvSpPr>
        <p:spPr>
          <a:xfrm>
            <a:off x="674054" y="5176595"/>
            <a:ext cx="10843892" cy="1184940"/>
          </a:xfrm>
          <a:prstGeom prst="rect">
            <a:avLst/>
          </a:prstGeom>
          <a:noFill/>
        </p:spPr>
        <p:txBody>
          <a:bodyPr wrap="square">
            <a:spAutoFit/>
          </a:bodyPr>
          <a:lstStyle/>
          <a:p>
            <a:pPr marL="285750" indent="-285750">
              <a:buFont typeface="Courier New" panose="02070309020205020404" pitchFamily="49" charset="0"/>
              <a:buChar char="o"/>
            </a:pPr>
            <a:r>
              <a:rPr lang="en-US" sz="1500" dirty="0"/>
              <a:t>Best Strat: Get to the top without getting hit by those lasers. You can side step, dodge, block, reflect, </a:t>
            </a:r>
            <a:r>
              <a:rPr lang="en-US" sz="1500" dirty="0" err="1"/>
              <a:t>invuln</a:t>
            </a:r>
            <a:r>
              <a:rPr lang="en-US" sz="1500" dirty="0"/>
              <a:t>., or port up. Best way is if your support has a reflect bubble. You may want to watch out for which bubble you use because it can bounce up the ramp instead. In which case, you’ll be getting hit both ways!</a:t>
            </a:r>
          </a:p>
          <a:p>
            <a:pPr marL="742950" lvl="1" indent="-285750">
              <a:buFont typeface="Courier New" panose="02070309020205020404" pitchFamily="49" charset="0"/>
              <a:buChar char="o"/>
            </a:pPr>
            <a:r>
              <a:rPr lang="en-US" sz="1300" dirty="0"/>
              <a:t>If you have a Mesmer, you can use your portal to use two panels at the same time and end up only needing 2 of your teammates to make it up there. </a:t>
            </a:r>
          </a:p>
        </p:txBody>
      </p:sp>
    </p:spTree>
    <p:extLst>
      <p:ext uri="{BB962C8B-B14F-4D97-AF65-F5344CB8AC3E}">
        <p14:creationId xmlns:p14="http://schemas.microsoft.com/office/powerpoint/2010/main" val="560783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B311B-8395-416A-95B1-95BB2DF61C3F}"/>
              </a:ext>
            </a:extLst>
          </p:cNvPr>
          <p:cNvSpPr>
            <a:spLocks noGrp="1"/>
          </p:cNvSpPr>
          <p:nvPr>
            <p:ph type="title"/>
          </p:nvPr>
        </p:nvSpPr>
        <p:spPr/>
        <p:txBody>
          <a:bodyPr/>
          <a:lstStyle/>
          <a:p>
            <a:pPr algn="ctr"/>
            <a:r>
              <a:rPr lang="en-US" dirty="0"/>
              <a:t>4. Mini Boss – Old Tom (Golem)</a:t>
            </a:r>
          </a:p>
        </p:txBody>
      </p:sp>
      <p:sp>
        <p:nvSpPr>
          <p:cNvPr id="3" name="Content Placeholder 2">
            <a:extLst>
              <a:ext uri="{FF2B5EF4-FFF2-40B4-BE49-F238E27FC236}">
                <a16:creationId xmlns:a16="http://schemas.microsoft.com/office/drawing/2014/main" id="{F481DA69-91CF-4DE1-B1CA-8CD36D832ADD}"/>
              </a:ext>
            </a:extLst>
          </p:cNvPr>
          <p:cNvSpPr>
            <a:spLocks noGrp="1"/>
          </p:cNvSpPr>
          <p:nvPr>
            <p:ph idx="1"/>
          </p:nvPr>
        </p:nvSpPr>
        <p:spPr>
          <a:xfrm>
            <a:off x="6476301" y="3217310"/>
            <a:ext cx="5029200" cy="2797509"/>
          </a:xfrm>
        </p:spPr>
        <p:txBody>
          <a:bodyPr/>
          <a:lstStyle/>
          <a:p>
            <a:r>
              <a:rPr lang="en-US" dirty="0"/>
              <a:t>Two Mechanics you need to watch out for:</a:t>
            </a:r>
          </a:p>
          <a:p>
            <a:pPr marL="617220" lvl="1" indent="-342900">
              <a:buAutoNum type="arabicPeriod"/>
            </a:pPr>
            <a:r>
              <a:rPr lang="en-US" dirty="0"/>
              <a:t>Spinning while Spewing out Poison</a:t>
            </a:r>
          </a:p>
          <a:p>
            <a:pPr marL="617220" lvl="1" indent="-342900">
              <a:buAutoNum type="arabicPeriod"/>
            </a:pPr>
            <a:r>
              <a:rPr lang="en-US" dirty="0"/>
              <a:t>Spins can pull a player in</a:t>
            </a:r>
          </a:p>
          <a:p>
            <a:r>
              <a:rPr lang="en-US" dirty="0"/>
              <a:t>How to Kill it?</a:t>
            </a:r>
          </a:p>
          <a:p>
            <a:pPr lvl="1"/>
            <a:r>
              <a:rPr lang="en-US" dirty="0"/>
              <a:t>Best Strat: There will be a CC bar that pops up pretty often. Look out for it and use your Fast CC skills to stop the Golem from using its skills. Once you CC, the CC bar will load back up until the Blue bar pops up again. In between those CCs, you’ll want to deal as much damage as possible before the Golem gets out of its daze. </a:t>
            </a:r>
          </a:p>
        </p:txBody>
      </p:sp>
      <p:pic>
        <p:nvPicPr>
          <p:cNvPr id="3074" name="Picture 2" descr="GW2 - Uncategorized Fractal Guide - GuildJen">
            <a:extLst>
              <a:ext uri="{FF2B5EF4-FFF2-40B4-BE49-F238E27FC236}">
                <a16:creationId xmlns:a16="http://schemas.microsoft.com/office/drawing/2014/main" id="{54269F69-9494-440D-88AE-CC56E0137E3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855" r="12607" b="45464"/>
          <a:stretch/>
        </p:blipFill>
        <p:spPr bwMode="auto">
          <a:xfrm>
            <a:off x="511729" y="1740935"/>
            <a:ext cx="5964572" cy="27975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0955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20073-6762-4DBF-9D4E-020EA870EE71}"/>
              </a:ext>
            </a:extLst>
          </p:cNvPr>
          <p:cNvSpPr>
            <a:spLocks noGrp="1"/>
          </p:cNvSpPr>
          <p:nvPr>
            <p:ph type="title"/>
          </p:nvPr>
        </p:nvSpPr>
        <p:spPr/>
        <p:txBody>
          <a:bodyPr/>
          <a:lstStyle/>
          <a:p>
            <a:pPr algn="ctr"/>
            <a:r>
              <a:rPr lang="en-US" dirty="0"/>
              <a:t>5. 2</a:t>
            </a:r>
            <a:r>
              <a:rPr lang="en-US" baseline="30000" dirty="0"/>
              <a:t>nd</a:t>
            </a:r>
            <a:r>
              <a:rPr lang="en-US" dirty="0"/>
              <a:t> Jumping Puzzle</a:t>
            </a:r>
          </a:p>
        </p:txBody>
      </p:sp>
      <p:sp>
        <p:nvSpPr>
          <p:cNvPr id="3" name="Content Placeholder 2">
            <a:extLst>
              <a:ext uri="{FF2B5EF4-FFF2-40B4-BE49-F238E27FC236}">
                <a16:creationId xmlns:a16="http://schemas.microsoft.com/office/drawing/2014/main" id="{745F45CD-0C88-4513-AFAA-4839C8832FE5}"/>
              </a:ext>
            </a:extLst>
          </p:cNvPr>
          <p:cNvSpPr>
            <a:spLocks noGrp="1"/>
          </p:cNvSpPr>
          <p:nvPr>
            <p:ph idx="1"/>
          </p:nvPr>
        </p:nvSpPr>
        <p:spPr>
          <a:xfrm>
            <a:off x="950636" y="1741979"/>
            <a:ext cx="4432300" cy="4018306"/>
          </a:xfrm>
        </p:spPr>
        <p:txBody>
          <a:bodyPr>
            <a:normAutofit lnSpcReduction="10000"/>
          </a:bodyPr>
          <a:lstStyle/>
          <a:p>
            <a:r>
              <a:rPr lang="en-US" sz="1800" dirty="0"/>
              <a:t>This one is similar to the first Jumping Puzzle </a:t>
            </a:r>
          </a:p>
          <a:p>
            <a:pPr lvl="1"/>
            <a:r>
              <a:rPr lang="en-US" sz="1500" dirty="0"/>
              <a:t>You’ll have Harpies with their long range attacks but this time when it hits you, you will be able to still make the next jump.</a:t>
            </a:r>
          </a:p>
          <a:p>
            <a:pPr lvl="1"/>
            <a:r>
              <a:rPr lang="en-US" sz="1500" dirty="0"/>
              <a:t>Some platforms will look different – A much brighter color that you may not be able to see normally. You’ll want to angle your screen so that you are looking at the top of your character’s head.</a:t>
            </a:r>
          </a:p>
          <a:p>
            <a:pPr lvl="1"/>
            <a:r>
              <a:rPr lang="en-US" sz="1500" dirty="0"/>
              <a:t>Good News: Once one of you in your party makes it to the end of the jumping puzzle, the rest of your team will be able to type in “/gg” and teleport to the end of the jumping puzzle!</a:t>
            </a:r>
          </a:p>
          <a:p>
            <a:pPr marL="0" indent="0">
              <a:buNone/>
            </a:pPr>
            <a:endParaRPr lang="en-US" dirty="0"/>
          </a:p>
          <a:p>
            <a:endParaRPr lang="en-US" dirty="0"/>
          </a:p>
        </p:txBody>
      </p:sp>
      <p:pic>
        <p:nvPicPr>
          <p:cNvPr id="6146" name="Picture 2" descr="Gw2: Uncategorized Fractal Renegade Solo | 10:05 - YouTube">
            <a:extLst>
              <a:ext uri="{FF2B5EF4-FFF2-40B4-BE49-F238E27FC236}">
                <a16:creationId xmlns:a16="http://schemas.microsoft.com/office/drawing/2014/main" id="{53C57C11-7F20-47D9-AAA3-1747C267719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7706" t="20459" r="2202" b="20092"/>
          <a:stretch/>
        </p:blipFill>
        <p:spPr bwMode="auto">
          <a:xfrm>
            <a:off x="5486401" y="2090112"/>
            <a:ext cx="5969648" cy="3322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39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5E9C3-E028-40E2-8ADA-F64C02E0E436}"/>
              </a:ext>
            </a:extLst>
          </p:cNvPr>
          <p:cNvSpPr>
            <a:spLocks noGrp="1"/>
          </p:cNvSpPr>
          <p:nvPr>
            <p:ph type="title"/>
          </p:nvPr>
        </p:nvSpPr>
        <p:spPr>
          <a:xfrm>
            <a:off x="1066800" y="490194"/>
            <a:ext cx="10058400" cy="1371600"/>
          </a:xfrm>
        </p:spPr>
        <p:txBody>
          <a:bodyPr/>
          <a:lstStyle/>
          <a:p>
            <a:pPr algn="ctr"/>
            <a:r>
              <a:rPr lang="en-US" dirty="0"/>
              <a:t>6. Final Boss – 4 Cat Golems</a:t>
            </a:r>
          </a:p>
        </p:txBody>
      </p:sp>
      <p:sp>
        <p:nvSpPr>
          <p:cNvPr id="3" name="Content Placeholder 2">
            <a:extLst>
              <a:ext uri="{FF2B5EF4-FFF2-40B4-BE49-F238E27FC236}">
                <a16:creationId xmlns:a16="http://schemas.microsoft.com/office/drawing/2014/main" id="{193B68C4-F513-4166-AAB6-B5B012A57BB4}"/>
              </a:ext>
            </a:extLst>
          </p:cNvPr>
          <p:cNvSpPr>
            <a:spLocks noGrp="1"/>
          </p:cNvSpPr>
          <p:nvPr>
            <p:ph idx="1"/>
          </p:nvPr>
        </p:nvSpPr>
        <p:spPr>
          <a:xfrm>
            <a:off x="6096000" y="1861794"/>
            <a:ext cx="5689600" cy="4112286"/>
          </a:xfrm>
        </p:spPr>
        <p:txBody>
          <a:bodyPr/>
          <a:lstStyle/>
          <a:p>
            <a:r>
              <a:rPr lang="en-US" dirty="0"/>
              <a:t>There will be 4 CAT GOLEMS, which you can hear them “Meow” every time you hit them </a:t>
            </a:r>
            <a:r>
              <a:rPr lang="en-US" dirty="0">
                <a:sym typeface="Wingdings" panose="05000000000000000000" pitchFamily="2" charset="2"/>
              </a:rPr>
              <a:t></a:t>
            </a:r>
          </a:p>
          <a:p>
            <a:pPr lvl="1"/>
            <a:r>
              <a:rPr lang="en-US" dirty="0">
                <a:sym typeface="Wingdings" panose="05000000000000000000" pitchFamily="2" charset="2"/>
              </a:rPr>
              <a:t>Once you go in, you will have to kill one Cat Golem at a time until the last Golem. Then all 4 Cat Golems will come up again for you to kill. Each Golem has one mechanic different from the other!</a:t>
            </a:r>
          </a:p>
          <a:p>
            <a:r>
              <a:rPr lang="en-US" dirty="0">
                <a:sym typeface="Wingdings" panose="05000000000000000000" pitchFamily="2" charset="2"/>
              </a:rPr>
              <a:t>Watch out for the Asura in the Middle!</a:t>
            </a:r>
          </a:p>
          <a:p>
            <a:pPr lvl="1"/>
            <a:r>
              <a:rPr lang="en-US" dirty="0">
                <a:sym typeface="Wingdings" panose="05000000000000000000" pitchFamily="2" charset="2"/>
              </a:rPr>
              <a:t>You can’t DPS the Asura because it’s </a:t>
            </a:r>
            <a:r>
              <a:rPr lang="en-US" dirty="0" err="1">
                <a:sym typeface="Wingdings" panose="05000000000000000000" pitchFamily="2" charset="2"/>
              </a:rPr>
              <a:t>invuln</a:t>
            </a:r>
            <a:r>
              <a:rPr lang="en-US" dirty="0">
                <a:sym typeface="Wingdings" panose="05000000000000000000" pitchFamily="2" charset="2"/>
              </a:rPr>
              <a:t>. But it can attack us. The Asura has long range attacks which is best for you to avoid because those attacks can cause daze, </a:t>
            </a:r>
            <a:r>
              <a:rPr lang="en-US" dirty="0" err="1">
                <a:sym typeface="Wingdings" panose="05000000000000000000" pitchFamily="2" charset="2"/>
              </a:rPr>
              <a:t>debuff</a:t>
            </a:r>
            <a:r>
              <a:rPr lang="en-US" dirty="0">
                <a:sym typeface="Wingdings" panose="05000000000000000000" pitchFamily="2" charset="2"/>
              </a:rPr>
              <a:t>, and/or small amount of damage with orbs</a:t>
            </a:r>
          </a:p>
          <a:p>
            <a:r>
              <a:rPr lang="en-US" dirty="0">
                <a:sym typeface="Wingdings" panose="05000000000000000000" pitchFamily="2" charset="2"/>
              </a:rPr>
              <a:t>Best Strat: Save your AOEs to kill all four golems together but it’s totally fine to kill them one at a time. Avoid the Asura while killing the Cat Golems. You can use reflect to have it bounce back. </a:t>
            </a:r>
          </a:p>
        </p:txBody>
      </p:sp>
      <p:pic>
        <p:nvPicPr>
          <p:cNvPr id="7170" name="Picture 2" descr="GW2 - Uncategorized Fractal Guide - GuildJen">
            <a:extLst>
              <a:ext uri="{FF2B5EF4-FFF2-40B4-BE49-F238E27FC236}">
                <a16:creationId xmlns:a16="http://schemas.microsoft.com/office/drawing/2014/main" id="{D7723A0E-6F31-4C81-BE55-C4446782F49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4145" b="15599"/>
          <a:stretch/>
        </p:blipFill>
        <p:spPr bwMode="auto">
          <a:xfrm>
            <a:off x="532118" y="1861794"/>
            <a:ext cx="5563882" cy="3908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6789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1AC70-267C-4546-8DDA-F501A3CEC59D}"/>
              </a:ext>
            </a:extLst>
          </p:cNvPr>
          <p:cNvSpPr>
            <a:spLocks noGrp="1"/>
          </p:cNvSpPr>
          <p:nvPr>
            <p:ph type="title"/>
          </p:nvPr>
        </p:nvSpPr>
        <p:spPr>
          <a:xfrm>
            <a:off x="3022600" y="2057400"/>
            <a:ext cx="3073400" cy="1371600"/>
          </a:xfrm>
        </p:spPr>
        <p:txBody>
          <a:bodyPr/>
          <a:lstStyle/>
          <a:p>
            <a:r>
              <a:rPr lang="en-US" dirty="0"/>
              <a:t>Good Luck</a:t>
            </a:r>
          </a:p>
        </p:txBody>
      </p:sp>
      <p:sp>
        <p:nvSpPr>
          <p:cNvPr id="4" name="Star: 5 Points 3">
            <a:extLst>
              <a:ext uri="{FF2B5EF4-FFF2-40B4-BE49-F238E27FC236}">
                <a16:creationId xmlns:a16="http://schemas.microsoft.com/office/drawing/2014/main" id="{E85351CB-1CA4-4DE4-8F23-B78791685E79}"/>
              </a:ext>
            </a:extLst>
          </p:cNvPr>
          <p:cNvSpPr/>
          <p:nvPr/>
        </p:nvSpPr>
        <p:spPr>
          <a:xfrm>
            <a:off x="6604000" y="1371600"/>
            <a:ext cx="3073400" cy="274320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A7DC0A8-7692-4A21-AF3E-A984F0A94AF5}"/>
              </a:ext>
            </a:extLst>
          </p:cNvPr>
          <p:cNvSpPr txBox="1"/>
          <p:nvPr/>
        </p:nvSpPr>
        <p:spPr>
          <a:xfrm>
            <a:off x="2470150" y="5117068"/>
            <a:ext cx="7251700" cy="369332"/>
          </a:xfrm>
          <a:prstGeom prst="rect">
            <a:avLst/>
          </a:prstGeom>
          <a:noFill/>
        </p:spPr>
        <p:txBody>
          <a:bodyPr wrap="square" rtlCol="0">
            <a:spAutoFit/>
          </a:bodyPr>
          <a:lstStyle/>
          <a:p>
            <a:pPr algn="ctr"/>
            <a:r>
              <a:rPr lang="en-US" dirty="0"/>
              <a:t>If you have Questions, Feel Free to DM me!</a:t>
            </a:r>
          </a:p>
        </p:txBody>
      </p:sp>
    </p:spTree>
    <p:extLst>
      <p:ext uri="{BB962C8B-B14F-4D97-AF65-F5344CB8AC3E}">
        <p14:creationId xmlns:p14="http://schemas.microsoft.com/office/powerpoint/2010/main" val="18685160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FIVE">
      <a:dk1>
        <a:sysClr val="windowText" lastClr="000000"/>
      </a:dk1>
      <a:lt1>
        <a:sysClr val="window" lastClr="FFFFFF"/>
      </a:lt1>
      <a:dk2>
        <a:srgbClr val="505046"/>
      </a:dk2>
      <a:lt2>
        <a:srgbClr val="F5F6F4"/>
      </a:lt2>
      <a:accent1>
        <a:srgbClr val="57903F"/>
      </a:accent1>
      <a:accent2>
        <a:srgbClr val="F03F2B"/>
      </a:accent2>
      <a:accent3>
        <a:srgbClr val="3488A0"/>
      </a:accent3>
      <a:accent4>
        <a:srgbClr val="F8D22F"/>
      </a:accent4>
      <a:accent5>
        <a:srgbClr val="5CC6D6"/>
      </a:accent5>
      <a:accent6>
        <a:srgbClr val="B8D233"/>
      </a:accent6>
      <a:hlink>
        <a:srgbClr val="00B0F0"/>
      </a:hlink>
      <a:folHlink>
        <a:srgbClr val="B2B2B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FIVE.pptx" id="{928531FE-40B6-4895-993A-83D26AA1E005}" vid="{C99C5ABD-1620-4AD2-A38C-62625556F38B}"/>
    </a:ext>
  </a:extLst>
</a:theme>
</file>

<file path=docProps/app.xml><?xml version="1.0" encoding="utf-8"?>
<Properties xmlns="http://schemas.openxmlformats.org/officeDocument/2006/extended-properties" xmlns:vt="http://schemas.openxmlformats.org/officeDocument/2006/docPropsVTypes">
  <Template>Geometric color block</Template>
  <TotalTime>0</TotalTime>
  <Words>1125</Words>
  <Application>Microsoft Office PowerPoint</Application>
  <PresentationFormat>Widescreen</PresentationFormat>
  <Paragraphs>47</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Century Gothic</vt:lpstr>
      <vt:lpstr>Courier New</vt:lpstr>
      <vt:lpstr>Garamond</vt:lpstr>
      <vt:lpstr>SavonVTI</vt:lpstr>
      <vt:lpstr>Uncategorized Fractal Scales: 2, 36, 44, 62, 79, 91</vt:lpstr>
      <vt:lpstr>1. Jumping Puzzle (JP)</vt:lpstr>
      <vt:lpstr>2. Mini Boss Fight – 4 to be Exact! Pt. 1</vt:lpstr>
      <vt:lpstr>3. Mini Boss Fight – 4 to be Exact! Pt. 2</vt:lpstr>
      <vt:lpstr>3. Mini Game – Laser Ramp</vt:lpstr>
      <vt:lpstr>4. Mini Boss – Old Tom (Golem)</vt:lpstr>
      <vt:lpstr>5. 2nd Jumping Puzzle</vt:lpstr>
      <vt:lpstr>6. Final Boss – 4 Cat Golems</vt:lpstr>
      <vt:lpstr>Good Luck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2022-04-05T17:12:59Z</dcterms:created>
  <dcterms:modified xsi:type="dcterms:W3CDTF">2022-04-23T23:19:38Z</dcterms:modified>
</cp:coreProperties>
</file>