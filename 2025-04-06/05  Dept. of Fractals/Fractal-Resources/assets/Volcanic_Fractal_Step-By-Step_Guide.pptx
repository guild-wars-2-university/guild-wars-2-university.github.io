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15"/>
  </p:notesMasterIdLst>
  <p:handoutMasterIdLst>
    <p:handoutMasterId r:id="rId16"/>
  </p:handoutMasterIdLst>
  <p:sldIdLst>
    <p:sldId id="257" r:id="rId5"/>
    <p:sldId id="389" r:id="rId6"/>
    <p:sldId id="384" r:id="rId7"/>
    <p:sldId id="277" r:id="rId8"/>
    <p:sldId id="278" r:id="rId9"/>
    <p:sldId id="270" r:id="rId10"/>
    <p:sldId id="279" r:id="rId11"/>
    <p:sldId id="272" r:id="rId12"/>
    <p:sldId id="268" r:id="rId13"/>
    <p:sldId id="39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35B"/>
    <a:srgbClr val="CCE8DA"/>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725" autoAdjust="0"/>
  </p:normalViewPr>
  <p:slideViewPr>
    <p:cSldViewPr snapToGrid="0">
      <p:cViewPr varScale="1">
        <p:scale>
          <a:sx n="114" d="100"/>
          <a:sy n="114" d="100"/>
        </p:scale>
        <p:origin x="414" y="102"/>
      </p:cViewPr>
      <p:guideLst>
        <p:guide pos="3840"/>
        <p:guide orient="horz" pos="2160"/>
      </p:guideLst>
    </p:cSldViewPr>
  </p:slideViewPr>
  <p:outlineViewPr>
    <p:cViewPr>
      <p:scale>
        <a:sx n="33" d="100"/>
        <a:sy n="33" d="100"/>
      </p:scale>
      <p:origin x="0" y="-2709"/>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8" d="100"/>
          <a:sy n="48" d="100"/>
        </p:scale>
        <p:origin x="1911"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elle You" userId="211ca7d7feaac94a" providerId="LiveId" clId="{49E4F993-BC31-48A8-88A2-36E2E06E44EC}"/>
    <pc:docChg chg="modSld">
      <pc:chgData name="Michelle You" userId="211ca7d7feaac94a" providerId="LiveId" clId="{49E4F993-BC31-48A8-88A2-36E2E06E44EC}" dt="2022-04-04T22:20:02.589" v="14" actId="20577"/>
      <pc:docMkLst>
        <pc:docMk/>
      </pc:docMkLst>
      <pc:sldChg chg="modSp mod">
        <pc:chgData name="Michelle You" userId="211ca7d7feaac94a" providerId="LiveId" clId="{49E4F993-BC31-48A8-88A2-36E2E06E44EC}" dt="2022-04-04T22:20:02.589" v="14" actId="20577"/>
        <pc:sldMkLst>
          <pc:docMk/>
          <pc:sldMk cId="3247798845" sldId="391"/>
        </pc:sldMkLst>
        <pc:spChg chg="mod">
          <ac:chgData name="Michelle You" userId="211ca7d7feaac94a" providerId="LiveId" clId="{49E4F993-BC31-48A8-88A2-36E2E06E44EC}" dt="2022-04-04T22:20:02.589" v="14" actId="20577"/>
          <ac:spMkLst>
            <pc:docMk/>
            <pc:sldMk cId="3247798845" sldId="391"/>
            <ac:spMk id="22" creationId="{F8FAEED9-1ECD-45F9-87A0-9394BAEABB7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1471C2C-1567-47F4-803E-468024209D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8F5B09-2954-46C6-97BB-9E10649FE2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7F2C1D-F243-42AB-ADF2-E7CB4E04900E}" type="datetimeFigureOut">
              <a:rPr lang="en-US" smtClean="0"/>
              <a:t>4/4/2022</a:t>
            </a:fld>
            <a:endParaRPr lang="en-US"/>
          </a:p>
        </p:txBody>
      </p:sp>
      <p:sp>
        <p:nvSpPr>
          <p:cNvPr id="4" name="Footer Placeholder 3">
            <a:extLst>
              <a:ext uri="{FF2B5EF4-FFF2-40B4-BE49-F238E27FC236}">
                <a16:creationId xmlns:a16="http://schemas.microsoft.com/office/drawing/2014/main" id="{E39A204B-EBA9-4C6D-BFB2-A104F00C8E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5F72FC-4D2D-4E5B-A4DD-62E2C822FB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CDBB5-5B4A-4483-935D-A73935186B4D}" type="slidenum">
              <a:rPr lang="en-US" smtClean="0"/>
              <a:t>‹#›</a:t>
            </a:fld>
            <a:endParaRPr lang="en-US"/>
          </a:p>
        </p:txBody>
      </p:sp>
    </p:spTree>
    <p:extLst>
      <p:ext uri="{BB962C8B-B14F-4D97-AF65-F5344CB8AC3E}">
        <p14:creationId xmlns:p14="http://schemas.microsoft.com/office/powerpoint/2010/main" val="2619237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CE34E-5667-4A32-A6BA-10C7A552BC63}" type="datetimeFigureOut">
              <a:rPr lang="en-US" smtClean="0"/>
              <a:t>4/4/2022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E34D-CFF1-4FFE-815B-D050E7ED2DFD}" type="slidenum">
              <a:rPr lang="en-US" smtClean="0"/>
              <a:t>‹#›</a:t>
            </a:fld>
            <a:endParaRPr lang="en-US"/>
          </a:p>
        </p:txBody>
      </p:sp>
    </p:spTree>
    <p:extLst>
      <p:ext uri="{BB962C8B-B14F-4D97-AF65-F5344CB8AC3E}">
        <p14:creationId xmlns:p14="http://schemas.microsoft.com/office/powerpoint/2010/main" val="397936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a:t>
            </a:fld>
            <a:endParaRPr lang="en-US"/>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3</a:t>
            </a:fld>
            <a:endParaRPr lang="en-US"/>
          </a:p>
        </p:txBody>
      </p:sp>
    </p:spTree>
    <p:extLst>
      <p:ext uri="{BB962C8B-B14F-4D97-AF65-F5344CB8AC3E}">
        <p14:creationId xmlns:p14="http://schemas.microsoft.com/office/powerpoint/2010/main" val="210033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6</a:t>
            </a:fld>
            <a:endParaRPr lang="en-US"/>
          </a:p>
        </p:txBody>
      </p:sp>
    </p:spTree>
    <p:extLst>
      <p:ext uri="{BB962C8B-B14F-4D97-AF65-F5344CB8AC3E}">
        <p14:creationId xmlns:p14="http://schemas.microsoft.com/office/powerpoint/2010/main" val="404304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DC0559-D619-4E56-BF6F-3712370C2150}" type="slidenum">
              <a:rPr lang="en-US" smtClean="0"/>
              <a:t>8</a:t>
            </a:fld>
            <a:endParaRPr lang="en-US"/>
          </a:p>
        </p:txBody>
      </p:sp>
    </p:spTree>
    <p:extLst>
      <p:ext uri="{BB962C8B-B14F-4D97-AF65-F5344CB8AC3E}">
        <p14:creationId xmlns:p14="http://schemas.microsoft.com/office/powerpoint/2010/main" val="514541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9</a:t>
            </a:fld>
            <a:endParaRPr lang="en-US"/>
          </a:p>
        </p:txBody>
      </p:sp>
    </p:spTree>
    <p:extLst>
      <p:ext uri="{BB962C8B-B14F-4D97-AF65-F5344CB8AC3E}">
        <p14:creationId xmlns:p14="http://schemas.microsoft.com/office/powerpoint/2010/main" val="396330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60094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r>
              <a:rPr lang="en-US"/>
              <a:t>Click icon to add picture</a:t>
            </a:r>
          </a:p>
        </p:txBody>
      </p:sp>
      <p:sp>
        <p:nvSpPr>
          <p:cNvPr id="22" name="Picture Placeholder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r>
              <a:rPr lang="en-US"/>
              <a:t>Click icon to add picture</a:t>
            </a:r>
          </a:p>
        </p:txBody>
      </p:sp>
      <p:sp>
        <p:nvSpPr>
          <p:cNvPr id="25" name="Picture Placeholder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6" name="Oval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0" name="Group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reeform: Shape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4284120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anchor="t" anchorCtr="0">
            <a:noAutofit/>
          </a:body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r>
              <a:rPr lang="en-US"/>
              <a:t>Click icon to add picture</a:t>
            </a:r>
          </a:p>
        </p:txBody>
      </p:sp>
      <p:sp>
        <p:nvSpPr>
          <p:cNvPr id="18" name="Picture Placeholder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r>
              <a:rPr lang="en-US"/>
              <a:t>Click icon to add picture</a:t>
            </a:r>
          </a:p>
        </p:txBody>
      </p:sp>
      <p:sp>
        <p:nvSpPr>
          <p:cNvPr id="19" name="Picture Placeholder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r>
              <a:rPr lang="en-US"/>
              <a:t>Click icon to add picture</a:t>
            </a:r>
          </a:p>
        </p:txBody>
      </p:sp>
      <p:sp>
        <p:nvSpPr>
          <p:cNvPr id="20" name="Picture Placeholder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1" name="Content Placeholder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Tree>
    <p:extLst>
      <p:ext uri="{BB962C8B-B14F-4D97-AF65-F5344CB8AC3E}">
        <p14:creationId xmlns:p14="http://schemas.microsoft.com/office/powerpoint/2010/main" val="2570260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r>
              <a:rPr lang="en-US"/>
              <a:t>Click icon to add picture</a:t>
            </a:r>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Tuesday, February 2, 20XX</a:t>
            </a:r>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3" name="Rectangle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anchor="b" anchorCtr="0">
            <a:noAutofit/>
          </a:bodyPr>
          <a:lstStyle>
            <a:lvl1pPr>
              <a:defRPr sz="64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Tree>
    <p:extLst>
      <p:ext uri="{BB962C8B-B14F-4D97-AF65-F5344CB8AC3E}">
        <p14:creationId xmlns:p14="http://schemas.microsoft.com/office/powerpoint/2010/main" val="102342956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r>
              <a:rPr lang="en-US"/>
              <a:t>Click icon to add picture</a:t>
            </a:r>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r>
              <a:rPr lang="en-US"/>
              <a:t>Click to edit Master title style</a:t>
            </a:r>
            <a:endParaRPr lang="en-US" dirty="0"/>
          </a:p>
        </p:txBody>
      </p:sp>
    </p:spTree>
    <p:extLst>
      <p:ext uri="{BB962C8B-B14F-4D97-AF65-F5344CB8AC3E}">
        <p14:creationId xmlns:p14="http://schemas.microsoft.com/office/powerpoint/2010/main" val="222930451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61607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r>
              <a:rPr lang="en-US"/>
              <a:t>Click to edit Master title style</a:t>
            </a:r>
            <a:endParaRPr lang="en-US" dirty="0"/>
          </a:p>
        </p:txBody>
      </p:sp>
      <p:grpSp>
        <p:nvGrpSpPr>
          <p:cNvPr id="8" name="Group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reeform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Freeform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2" name="Oval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Content Placeholder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a:t>Click to edit Master text styles</a:t>
            </a:r>
          </a:p>
        </p:txBody>
      </p:sp>
      <p:sp>
        <p:nvSpPr>
          <p:cNvPr id="15" name="Picture Placeholder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06308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4" name="Oval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Title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a:noAutofit/>
          </a:bodyPr>
          <a:lstStyle/>
          <a:p>
            <a:r>
              <a:rPr lang="en-US" dirty="0"/>
              <a:t>Team</a:t>
            </a:r>
          </a:p>
        </p:txBody>
      </p:sp>
      <p:grpSp>
        <p:nvGrpSpPr>
          <p:cNvPr id="51" name="Group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reeform: Shape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3" name="Freeform: Shape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54" name="Oval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Oval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6" name="Picture Placeholder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r>
              <a:rPr lang="en-US"/>
              <a:t>Click icon to add picture</a:t>
            </a:r>
          </a:p>
        </p:txBody>
      </p:sp>
      <p:sp>
        <p:nvSpPr>
          <p:cNvPr id="57" name="Picture Placeholder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r>
              <a:rPr lang="en-US"/>
              <a:t>Click icon to add picture</a:t>
            </a:r>
          </a:p>
        </p:txBody>
      </p:sp>
      <p:sp>
        <p:nvSpPr>
          <p:cNvPr id="58" name="Picture Placeholder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r>
              <a:rPr lang="en-US"/>
              <a:t>Click icon to add picture</a:t>
            </a:r>
            <a:endParaRPr lang="en-US" dirty="0"/>
          </a:p>
        </p:txBody>
      </p:sp>
      <p:sp>
        <p:nvSpPr>
          <p:cNvPr id="59" name="Picture Placeholder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r>
              <a:rPr lang="en-US"/>
              <a:t>Click icon to add picture</a:t>
            </a:r>
          </a:p>
        </p:txBody>
      </p:sp>
      <p:sp>
        <p:nvSpPr>
          <p:cNvPr id="63" name="Text Placeholder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71577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n-US" sz="1400" b="0" cap="all" spc="200" baseline="0" dirty="0">
                <a:solidFill>
                  <a:schemeClr val="tx1"/>
                </a:solidFill>
              </a:defRPr>
            </a:lvl1pPr>
          </a:lstStyle>
          <a:p>
            <a:pPr marL="228600" lvl="0" indent="-228600"/>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noAutofit/>
          </a:bodyPr>
          <a:lstStyle/>
          <a:p>
            <a:r>
              <a:rPr lang="en-US"/>
              <a:t>Tuesday, February 2, 20XX</a:t>
            </a:r>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67039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9" name="Freeform: Shape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itle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16" name="Text Placeholder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a:t>Click to edit Master text styles</a:t>
            </a:r>
          </a:p>
        </p:txBody>
      </p:sp>
      <p:sp>
        <p:nvSpPr>
          <p:cNvPr id="23" name="Content Placeholder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285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anchor="t" anchorCtr="0">
            <a:noAutofit/>
          </a:bodyPr>
          <a:lstStyle/>
          <a:p>
            <a:r>
              <a:rPr lang="en-US"/>
              <a:t>Click to edit Master title style</a:t>
            </a:r>
          </a:p>
        </p:txBody>
      </p:sp>
      <p:sp>
        <p:nvSpPr>
          <p:cNvPr id="10" name="Picture Placeholder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r>
              <a:rPr lang="en-US"/>
              <a:t>Click icon to add picture</a:t>
            </a:r>
          </a:p>
        </p:txBody>
      </p:sp>
      <p:sp>
        <p:nvSpPr>
          <p:cNvPr id="7" name="Content Placeholder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8" name="Oval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25477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anchor="b" anchorCtr="0">
            <a:noAutofit/>
          </a:bodyPr>
          <a:lstStyle/>
          <a:p>
            <a:r>
              <a:rPr lang="en-US"/>
              <a:t>Click to edit Master title style</a:t>
            </a:r>
            <a:endParaRPr lang="en-US" dirty="0"/>
          </a:p>
        </p:txBody>
      </p:sp>
      <p:sp>
        <p:nvSpPr>
          <p:cNvPr id="31" name="Subtitle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40" name="Picture Placeholder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r>
              <a:rPr lang="en-US"/>
              <a:t>Click icon to add picture</a:t>
            </a:r>
            <a:endParaRPr lang="en-US" dirty="0"/>
          </a:p>
        </p:txBody>
      </p:sp>
      <p:sp>
        <p:nvSpPr>
          <p:cNvPr id="42" name="Picture Placeholder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r>
              <a:rPr lang="en-US"/>
              <a:t>Click icon to add picture</a:t>
            </a:r>
          </a:p>
        </p:txBody>
      </p:sp>
      <p:grpSp>
        <p:nvGrpSpPr>
          <p:cNvPr id="43" name="Group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reeform: Shape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5" name="Oval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Shape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nvGrpSpPr>
          <p:cNvPr id="15" name="Group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reeform: Shape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7" name="Oval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27319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412362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noAutofit/>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617165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858332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983562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Tuesday, February 2, 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33" r:id="rId3"/>
    <p:sldLayoutId id="2147483687" r:id="rId4"/>
    <p:sldLayoutId id="2147483734" r:id="rId5"/>
    <p:sldLayoutId id="2147483686" r:id="rId6"/>
    <p:sldLayoutId id="2147483696" r:id="rId7"/>
    <p:sldLayoutId id="2147483707" r:id="rId8"/>
    <p:sldLayoutId id="2147483689" r:id="rId9"/>
    <p:sldLayoutId id="2147483697" r:id="rId10"/>
    <p:sldLayoutId id="2147483731" r:id="rId11"/>
    <p:sldLayoutId id="2147483693" r:id="rId12"/>
    <p:sldLayoutId id="2147483685" r:id="rId13"/>
    <p:sldLayoutId id="2147483688" r:id="rId14"/>
    <p:sldLayoutId id="2147483691" r:id="rId15"/>
    <p:sldLayoutId id="2147483692" r:id="rId16"/>
  </p:sldLayoutIdLst>
  <p:hf hdr="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938C-9D94-4B05-979A-D39FFC457291}"/>
              </a:ext>
            </a:extLst>
          </p:cNvPr>
          <p:cNvSpPr>
            <a:spLocks noGrp="1"/>
          </p:cNvSpPr>
          <p:nvPr>
            <p:ph type="ctrTitle"/>
          </p:nvPr>
        </p:nvSpPr>
        <p:spPr>
          <a:xfrm>
            <a:off x="7739354" y="1044102"/>
            <a:ext cx="4273680" cy="2384898"/>
          </a:xfrm>
        </p:spPr>
        <p:txBody>
          <a:bodyPr anchor="b" anchorCtr="0">
            <a:normAutofit fontScale="90000"/>
          </a:bodyPr>
          <a:lstStyle/>
          <a:p>
            <a:r>
              <a:rPr lang="en-US" b="1" dirty="0"/>
              <a:t>Volcanic Fractal</a:t>
            </a:r>
            <a:br>
              <a:rPr lang="en-US" dirty="0"/>
            </a:br>
            <a:br>
              <a:rPr lang="en-US" dirty="0"/>
            </a:br>
            <a:r>
              <a:rPr lang="en-US" dirty="0"/>
              <a:t>Scales:</a:t>
            </a:r>
            <a:br>
              <a:rPr lang="en-US" dirty="0"/>
            </a:br>
            <a:r>
              <a:rPr lang="en-US" dirty="0"/>
              <a:t> 1, 19, 28, 52, 92</a:t>
            </a:r>
          </a:p>
        </p:txBody>
      </p:sp>
      <p:pic>
        <p:nvPicPr>
          <p:cNvPr id="14" name="Picture Placeholder 13" descr="Data Points Digital background">
            <a:extLst>
              <a:ext uri="{FF2B5EF4-FFF2-40B4-BE49-F238E27FC236}">
                <a16:creationId xmlns:a16="http://schemas.microsoft.com/office/drawing/2014/main" id="{9A8AD548-922D-4E1D-B19C-5F6E808B816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7452360" cy="6858000"/>
          </a:xfrm>
        </p:spPr>
      </p:pic>
      <p:pic>
        <p:nvPicPr>
          <p:cNvPr id="1026" name="Picture 2" descr="Volcanic Fractal - Guild Wars 2 Wiki (GW2W)">
            <a:extLst>
              <a:ext uri="{FF2B5EF4-FFF2-40B4-BE49-F238E27FC236}">
                <a16:creationId xmlns:a16="http://schemas.microsoft.com/office/drawing/2014/main" id="{B8E8626D-820C-4BED-9C5B-B1CB85148B4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45" t="10204" r="11864" b="4626"/>
          <a:stretch/>
        </p:blipFill>
        <p:spPr bwMode="auto">
          <a:xfrm>
            <a:off x="549106" y="388920"/>
            <a:ext cx="6354148" cy="584096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DF2376C-0CDE-4A13-90C6-F1F6BBAC9F96}"/>
              </a:ext>
            </a:extLst>
          </p:cNvPr>
          <p:cNvSpPr txBox="1"/>
          <p:nvPr/>
        </p:nvSpPr>
        <p:spPr>
          <a:xfrm>
            <a:off x="7739354" y="3961276"/>
            <a:ext cx="4164623" cy="1477328"/>
          </a:xfrm>
          <a:prstGeom prst="rect">
            <a:avLst/>
          </a:prstGeom>
          <a:noFill/>
        </p:spPr>
        <p:txBody>
          <a:bodyPr wrap="square">
            <a:spAutoFit/>
          </a:bodyPr>
          <a:lstStyle/>
          <a:p>
            <a:r>
              <a:rPr lang="en-US" sz="3000" b="1" dirty="0"/>
              <a:t>Know What to Expect</a:t>
            </a:r>
            <a:r>
              <a:rPr lang="en-US" sz="3000" dirty="0"/>
              <a:t>: </a:t>
            </a:r>
          </a:p>
          <a:p>
            <a:r>
              <a:rPr lang="en-US" sz="3000" dirty="0"/>
              <a:t>Mechanics explained Step-By-Step</a:t>
            </a:r>
          </a:p>
        </p:txBody>
      </p:sp>
      <p:sp>
        <p:nvSpPr>
          <p:cNvPr id="7" name="TextBox 6">
            <a:extLst>
              <a:ext uri="{FF2B5EF4-FFF2-40B4-BE49-F238E27FC236}">
                <a16:creationId xmlns:a16="http://schemas.microsoft.com/office/drawing/2014/main" id="{B1B61696-2A58-4830-8118-6928B10F1653}"/>
              </a:ext>
            </a:extLst>
          </p:cNvPr>
          <p:cNvSpPr txBox="1"/>
          <p:nvPr/>
        </p:nvSpPr>
        <p:spPr>
          <a:xfrm>
            <a:off x="10846965" y="6397663"/>
            <a:ext cx="1166069" cy="276999"/>
          </a:xfrm>
          <a:prstGeom prst="rect">
            <a:avLst/>
          </a:prstGeom>
          <a:noFill/>
        </p:spPr>
        <p:txBody>
          <a:bodyPr wrap="square" rtlCol="0">
            <a:spAutoFit/>
          </a:bodyPr>
          <a:lstStyle/>
          <a:p>
            <a:r>
              <a:rPr lang="en-US" sz="1200" dirty="0"/>
              <a:t>By: Michie.4352</a:t>
            </a:r>
          </a:p>
        </p:txBody>
      </p:sp>
    </p:spTree>
    <p:extLst>
      <p:ext uri="{BB962C8B-B14F-4D97-AF65-F5344CB8AC3E}">
        <p14:creationId xmlns:p14="http://schemas.microsoft.com/office/powerpoint/2010/main" val="75281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426E-F6F6-4A7C-9181-8C3090996261}"/>
              </a:ext>
            </a:extLst>
          </p:cNvPr>
          <p:cNvSpPr>
            <a:spLocks noGrp="1"/>
          </p:cNvSpPr>
          <p:nvPr>
            <p:ph type="title"/>
          </p:nvPr>
        </p:nvSpPr>
        <p:spPr>
          <a:xfrm>
            <a:off x="1696838" y="503042"/>
            <a:ext cx="8798324" cy="1354170"/>
          </a:xfrm>
        </p:spPr>
        <p:txBody>
          <a:bodyPr/>
          <a:lstStyle/>
          <a:p>
            <a:pPr algn="ctr"/>
            <a:r>
              <a:rPr lang="en-US" dirty="0"/>
              <a:t>1. Kill: Stop the </a:t>
            </a:r>
            <a:r>
              <a:rPr lang="en-US" dirty="0" err="1"/>
              <a:t>Grawl</a:t>
            </a:r>
            <a:r>
              <a:rPr lang="en-US" dirty="0"/>
              <a:t> from Completing the Ritual</a:t>
            </a:r>
          </a:p>
        </p:txBody>
      </p:sp>
      <p:pic>
        <p:nvPicPr>
          <p:cNvPr id="17" name="Picture 16" descr="Text&#10;&#10;Description automatically generated">
            <a:extLst>
              <a:ext uri="{FF2B5EF4-FFF2-40B4-BE49-F238E27FC236}">
                <a16:creationId xmlns:a16="http://schemas.microsoft.com/office/drawing/2014/main" id="{4204B615-31FD-4CFC-841C-D42CCBEC21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7513" y="3155051"/>
            <a:ext cx="3702475" cy="1813390"/>
          </a:xfrm>
          <a:prstGeom prst="rect">
            <a:avLst/>
          </a:prstGeom>
        </p:spPr>
      </p:pic>
      <p:pic>
        <p:nvPicPr>
          <p:cNvPr id="2052" name="Picture 4" descr="Volcanic Fractal defeat the grawl guards 3">
            <a:extLst>
              <a:ext uri="{FF2B5EF4-FFF2-40B4-BE49-F238E27FC236}">
                <a16:creationId xmlns:a16="http://schemas.microsoft.com/office/drawing/2014/main" id="{C1ACBD03-5E8B-4BAF-8F9D-3246FEF387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475" t="11701" r="36848" b="53741"/>
          <a:stretch/>
        </p:blipFill>
        <p:spPr bwMode="auto">
          <a:xfrm>
            <a:off x="1444268" y="2942247"/>
            <a:ext cx="3470989" cy="252616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0ECC1660-FF3B-4F5F-8D9A-33D3309FB43C}"/>
              </a:ext>
            </a:extLst>
          </p:cNvPr>
          <p:cNvSpPr txBox="1"/>
          <p:nvPr/>
        </p:nvSpPr>
        <p:spPr>
          <a:xfrm>
            <a:off x="6417513" y="2376613"/>
            <a:ext cx="3941414" cy="646331"/>
          </a:xfrm>
          <a:prstGeom prst="rect">
            <a:avLst/>
          </a:prstGeom>
          <a:noFill/>
        </p:spPr>
        <p:txBody>
          <a:bodyPr wrap="square">
            <a:spAutoFit/>
          </a:bodyPr>
          <a:lstStyle/>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You can check on the top right corner of your screen to see your progress</a:t>
            </a:r>
            <a:endParaRPr lang="en-US" dirty="0"/>
          </a:p>
        </p:txBody>
      </p:sp>
      <p:sp>
        <p:nvSpPr>
          <p:cNvPr id="24" name="TextBox 23">
            <a:extLst>
              <a:ext uri="{FF2B5EF4-FFF2-40B4-BE49-F238E27FC236}">
                <a16:creationId xmlns:a16="http://schemas.microsoft.com/office/drawing/2014/main" id="{CFD8FE79-3482-4D28-84BD-A229B3D19983}"/>
              </a:ext>
            </a:extLst>
          </p:cNvPr>
          <p:cNvSpPr txBox="1"/>
          <p:nvPr/>
        </p:nvSpPr>
        <p:spPr>
          <a:xfrm>
            <a:off x="1034992" y="2396957"/>
            <a:ext cx="4058173" cy="369332"/>
          </a:xfrm>
          <a:prstGeom prst="rect">
            <a:avLst/>
          </a:prstGeom>
          <a:noFill/>
        </p:spPr>
        <p:txBody>
          <a:bodyPr wrap="square">
            <a:spAutoFit/>
          </a:bodyPr>
          <a:lstStyle/>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Kill waves of Adds to Stop the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Grawl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313234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3418ADF-358F-4647-A511-FCFFEDA83429}"/>
              </a:ext>
            </a:extLst>
          </p:cNvPr>
          <p:cNvSpPr>
            <a:spLocks noGrp="1"/>
          </p:cNvSpPr>
          <p:nvPr>
            <p:ph type="title"/>
          </p:nvPr>
        </p:nvSpPr>
        <p:spPr>
          <a:xfrm>
            <a:off x="1684714" y="746396"/>
            <a:ext cx="8822571" cy="719141"/>
          </a:xfrm>
        </p:spPr>
        <p:txBody>
          <a:bodyPr/>
          <a:lstStyle/>
          <a:p>
            <a:r>
              <a:rPr lang="en-US" dirty="0"/>
              <a:t>2. Pop-up Scene: Rolling Meteors</a:t>
            </a:r>
          </a:p>
        </p:txBody>
      </p:sp>
      <p:pic>
        <p:nvPicPr>
          <p:cNvPr id="13" name="Picture 12" descr="GW2 - Volcanic Fractal Guide - GuildJen">
            <a:extLst>
              <a:ext uri="{FF2B5EF4-FFF2-40B4-BE49-F238E27FC236}">
                <a16:creationId xmlns:a16="http://schemas.microsoft.com/office/drawing/2014/main" id="{F311B1FB-7264-475B-A946-2F3BAC02E5C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9333" t="18222" r="13778"/>
          <a:stretch/>
        </p:blipFill>
        <p:spPr bwMode="auto">
          <a:xfrm>
            <a:off x="7469623" y="1739650"/>
            <a:ext cx="3493142" cy="3715249"/>
          </a:xfrm>
          <a:prstGeom prst="rect">
            <a:avLst/>
          </a:prstGeom>
          <a:noFill/>
          <a:ln>
            <a:noFill/>
          </a:ln>
          <a:extLst>
            <a:ext uri="{53640926-AAD7-44D8-BBD7-CCE9431645EC}">
              <a14:shadowObscured xmlns:a14="http://schemas.microsoft.com/office/drawing/2010/main"/>
            </a:ext>
          </a:extLst>
        </p:spPr>
      </p:pic>
      <p:sp>
        <p:nvSpPr>
          <p:cNvPr id="22" name="TextBox 21">
            <a:extLst>
              <a:ext uri="{FF2B5EF4-FFF2-40B4-BE49-F238E27FC236}">
                <a16:creationId xmlns:a16="http://schemas.microsoft.com/office/drawing/2014/main" id="{24BF6C1C-9E09-49A8-8B46-C10F54A3A348}"/>
              </a:ext>
            </a:extLst>
          </p:cNvPr>
          <p:cNvSpPr txBox="1"/>
          <p:nvPr/>
        </p:nvSpPr>
        <p:spPr>
          <a:xfrm>
            <a:off x="849401" y="2301145"/>
            <a:ext cx="5826776" cy="1754326"/>
          </a:xfrm>
          <a:prstGeom prst="rect">
            <a:avLst/>
          </a:prstGeom>
          <a:noFill/>
        </p:spPr>
        <p:txBody>
          <a:bodyPr wrap="square">
            <a:spAutoFit/>
          </a:bodyPr>
          <a:lstStyle/>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Rolling meteors will roll down the cave, leaving a trail of fire behind them for a few seconds. You want to run through without getting rolled over because that’s an instant down/K.O. </a:t>
            </a:r>
          </a:p>
          <a:p>
            <a:r>
              <a:rPr lang="en-US" dirty="0">
                <a:latin typeface="Times New Roman" panose="02020603050405020304" pitchFamily="18" charset="0"/>
                <a:ea typeface="Calibri" panose="020F0502020204030204" pitchFamily="34" charset="0"/>
              </a:rPr>
              <a:t>	1</a:t>
            </a:r>
            <a:r>
              <a:rPr lang="en-US" baseline="30000" dirty="0">
                <a:latin typeface="Times New Roman" panose="02020603050405020304" pitchFamily="18" charset="0"/>
                <a:ea typeface="Calibri" panose="020F0502020204030204" pitchFamily="34" charset="0"/>
              </a:rPr>
              <a:t>st</a:t>
            </a:r>
            <a:r>
              <a:rPr lang="en-US" dirty="0">
                <a:latin typeface="Times New Roman" panose="02020603050405020304" pitchFamily="18" charset="0"/>
                <a:ea typeface="Calibri" panose="020F0502020204030204" pitchFamily="34" charset="0"/>
              </a:rPr>
              <a:t> hit: Instant Down</a:t>
            </a:r>
          </a:p>
          <a:p>
            <a:r>
              <a:rPr lang="en-US" sz="1800" dirty="0">
                <a:effectLst/>
                <a:latin typeface="Times New Roman" panose="02020603050405020304" pitchFamily="18" charset="0"/>
                <a:ea typeface="Calibri" panose="020F0502020204030204" pitchFamily="34" charset="0"/>
              </a:rPr>
              <a:t>	2</a:t>
            </a:r>
            <a:r>
              <a:rPr lang="en-US" sz="1800" baseline="30000" dirty="0">
                <a:effectLst/>
                <a:latin typeface="Times New Roman" panose="02020603050405020304" pitchFamily="18" charset="0"/>
                <a:ea typeface="Calibri" panose="020F0502020204030204" pitchFamily="34" charset="0"/>
              </a:rPr>
              <a:t>nd</a:t>
            </a:r>
            <a:r>
              <a:rPr lang="en-US" sz="1800" dirty="0">
                <a:effectLst/>
                <a:latin typeface="Times New Roman" panose="02020603050405020304" pitchFamily="18" charset="0"/>
                <a:ea typeface="Calibri" panose="020F0502020204030204" pitchFamily="34" charset="0"/>
              </a:rPr>
              <a:t> Hit: K.O.</a:t>
            </a:r>
          </a:p>
        </p:txBody>
      </p:sp>
      <p:sp>
        <p:nvSpPr>
          <p:cNvPr id="26" name="TextBox 25">
            <a:extLst>
              <a:ext uri="{FF2B5EF4-FFF2-40B4-BE49-F238E27FC236}">
                <a16:creationId xmlns:a16="http://schemas.microsoft.com/office/drawing/2014/main" id="{61EFE07F-F750-4A88-A1E7-7A206EA806DA}"/>
              </a:ext>
            </a:extLst>
          </p:cNvPr>
          <p:cNvSpPr txBox="1"/>
          <p:nvPr/>
        </p:nvSpPr>
        <p:spPr>
          <a:xfrm>
            <a:off x="849401" y="4091815"/>
            <a:ext cx="5039671" cy="646331"/>
          </a:xfrm>
          <a:prstGeom prst="rect">
            <a:avLst/>
          </a:prstGeom>
          <a:noFill/>
        </p:spPr>
        <p:txBody>
          <a:bodyPr wrap="square">
            <a:spAutoFit/>
          </a:bodyPr>
          <a:lstStyle/>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rPr>
              <a:t>Best way is run behind the meteors but next to the fire, so you don’t get a burning effect</a:t>
            </a:r>
            <a:endParaRPr lang="en-US" dirty="0"/>
          </a:p>
        </p:txBody>
      </p:sp>
    </p:spTree>
    <p:extLst>
      <p:ext uri="{BB962C8B-B14F-4D97-AF65-F5344CB8AC3E}">
        <p14:creationId xmlns:p14="http://schemas.microsoft.com/office/powerpoint/2010/main" val="2158886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E174092-82D3-44E0-8948-4096232ED0A7}"/>
              </a:ext>
            </a:extLst>
          </p:cNvPr>
          <p:cNvSpPr>
            <a:spLocks noGrp="1"/>
          </p:cNvSpPr>
          <p:nvPr>
            <p:ph type="title"/>
          </p:nvPr>
        </p:nvSpPr>
        <p:spPr>
          <a:xfrm>
            <a:off x="843205" y="520950"/>
            <a:ext cx="6301327" cy="1401565"/>
          </a:xfrm>
        </p:spPr>
        <p:txBody>
          <a:bodyPr/>
          <a:lstStyle/>
          <a:p>
            <a:pPr algn="ctr"/>
            <a:r>
              <a:rPr lang="en-US" dirty="0"/>
              <a:t>3. Mini Boss/Game: </a:t>
            </a:r>
            <a:br>
              <a:rPr lang="en-US" dirty="0"/>
            </a:br>
            <a:r>
              <a:rPr lang="en-US" dirty="0"/>
              <a:t>Protect Villagers Pt. 1 </a:t>
            </a:r>
          </a:p>
        </p:txBody>
      </p:sp>
      <p:sp>
        <p:nvSpPr>
          <p:cNvPr id="3" name="Content Placeholder 2">
            <a:extLst>
              <a:ext uri="{FF2B5EF4-FFF2-40B4-BE49-F238E27FC236}">
                <a16:creationId xmlns:a16="http://schemas.microsoft.com/office/drawing/2014/main" id="{37C4801C-2645-449E-A3E2-08C0079BC540}"/>
              </a:ext>
            </a:extLst>
          </p:cNvPr>
          <p:cNvSpPr>
            <a:spLocks noGrp="1"/>
          </p:cNvSpPr>
          <p:nvPr>
            <p:ph idx="1"/>
          </p:nvPr>
        </p:nvSpPr>
        <p:spPr>
          <a:xfrm>
            <a:off x="820598" y="2271512"/>
            <a:ext cx="6531072" cy="3979625"/>
          </a:xfrm>
        </p:spPr>
        <p:txBody>
          <a:bodyPr/>
          <a:lstStyle/>
          <a:p>
            <a:r>
              <a:rPr lang="en-US" sz="1800" dirty="0">
                <a:latin typeface="Times New Roman" panose="02020603050405020304" pitchFamily="18" charset="0"/>
                <a:ea typeface="Calibri" panose="020F0502020204030204" pitchFamily="34" charset="0"/>
              </a:rPr>
              <a:t>F</a:t>
            </a:r>
            <a:r>
              <a:rPr lang="en-US" sz="1800" dirty="0">
                <a:effectLst/>
                <a:latin typeface="Times New Roman" panose="02020603050405020304" pitchFamily="18" charset="0"/>
                <a:ea typeface="Calibri" panose="020F0502020204030204" pitchFamily="34" charset="0"/>
              </a:rPr>
              <a:t>our Villagers on the corners next to the Boss that’s on top of a Skull Head – Protect them from being pushed off the edge by Adds</a:t>
            </a:r>
          </a:p>
          <a:p>
            <a:pPr lvl="1"/>
            <a:r>
              <a:rPr lang="en-US" dirty="0">
                <a:latin typeface="Times New Roman" panose="02020603050405020304" pitchFamily="18" charset="0"/>
              </a:rPr>
              <a:t>If all four villagers are pushed off, you’ll have to restart all over again</a:t>
            </a:r>
          </a:p>
          <a:p>
            <a:pPr lvl="1"/>
            <a:r>
              <a:rPr lang="en-US" dirty="0">
                <a:latin typeface="Times New Roman" panose="02020603050405020304" pitchFamily="18" charset="0"/>
              </a:rPr>
              <a:t>Best Strategy: Kill the Adds walking towards the Villagers. You can use slows to give you and your party more time to kill.</a:t>
            </a:r>
          </a:p>
          <a:p>
            <a:r>
              <a:rPr lang="en-US" dirty="0">
                <a:latin typeface="Times New Roman" panose="02020603050405020304" pitchFamily="18" charset="0"/>
              </a:rPr>
              <a:t>At the same time, you see the mini boss with a protective shield on top of a skull head and infused stones on the ground</a:t>
            </a:r>
          </a:p>
          <a:p>
            <a:pPr lvl="1"/>
            <a:r>
              <a:rPr lang="en-US" dirty="0">
                <a:latin typeface="Times New Roman" panose="02020603050405020304" pitchFamily="18" charset="0"/>
              </a:rPr>
              <a:t>Best Strategy: Split up. Half of the group focuses on Adds and the other half focus on grabbing the infused stones and throw it at the Champ.</a:t>
            </a:r>
          </a:p>
          <a:p>
            <a:pPr lvl="1"/>
            <a:r>
              <a:rPr lang="en-US" dirty="0">
                <a:latin typeface="Times New Roman" panose="02020603050405020304" pitchFamily="18" charset="0"/>
              </a:rPr>
              <a:t>You can see on the top right corner of your screen just how many stones you need to throw to break the shield</a:t>
            </a:r>
          </a:p>
        </p:txBody>
      </p:sp>
      <p:pic>
        <p:nvPicPr>
          <p:cNvPr id="9" name="Picture 8" descr="A screenshot of a video game&#10;&#10;Description automatically generated">
            <a:extLst>
              <a:ext uri="{FF2B5EF4-FFF2-40B4-BE49-F238E27FC236}">
                <a16:creationId xmlns:a16="http://schemas.microsoft.com/office/drawing/2014/main" id="{A8B61003-ED90-4ED4-AEA9-1A51751EAE2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6026" b="1542"/>
          <a:stretch/>
        </p:blipFill>
        <p:spPr bwMode="auto">
          <a:xfrm>
            <a:off x="8105867" y="380991"/>
            <a:ext cx="3043696" cy="3979625"/>
          </a:xfrm>
          <a:prstGeom prst="rect">
            <a:avLst/>
          </a:prstGeom>
          <a:noFill/>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2E779832-10C7-4379-B47A-34EB20F481EB}"/>
              </a:ext>
            </a:extLst>
          </p:cNvPr>
          <p:cNvPicPr>
            <a:picLocks noChangeAspect="1"/>
          </p:cNvPicPr>
          <p:nvPr/>
        </p:nvPicPr>
        <p:blipFill rotWithShape="1">
          <a:blip r:embed="rId3"/>
          <a:srcRect l="5185" t="3072" r="2354" b="9606"/>
          <a:stretch/>
        </p:blipFill>
        <p:spPr>
          <a:xfrm>
            <a:off x="8079792" y="4616691"/>
            <a:ext cx="3069771" cy="1634446"/>
          </a:xfrm>
          <a:prstGeom prst="rect">
            <a:avLst/>
          </a:prstGeom>
        </p:spPr>
      </p:pic>
    </p:spTree>
    <p:extLst>
      <p:ext uri="{BB962C8B-B14F-4D97-AF65-F5344CB8AC3E}">
        <p14:creationId xmlns:p14="http://schemas.microsoft.com/office/powerpoint/2010/main" val="3740286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02D8-1D22-4940-AF19-07CF3A0DC5F4}"/>
              </a:ext>
            </a:extLst>
          </p:cNvPr>
          <p:cNvSpPr>
            <a:spLocks noGrp="1"/>
          </p:cNvSpPr>
          <p:nvPr>
            <p:ph type="title"/>
          </p:nvPr>
        </p:nvSpPr>
        <p:spPr>
          <a:xfrm>
            <a:off x="549537" y="280828"/>
            <a:ext cx="11091600" cy="1332000"/>
          </a:xfrm>
        </p:spPr>
        <p:txBody>
          <a:bodyPr/>
          <a:lstStyle/>
          <a:p>
            <a:pPr algn="ctr"/>
            <a:r>
              <a:rPr lang="en-US" dirty="0"/>
              <a:t>4. Mini Boss/Game: </a:t>
            </a:r>
            <a:br>
              <a:rPr lang="en-US" dirty="0"/>
            </a:br>
            <a:r>
              <a:rPr lang="en-US" dirty="0"/>
              <a:t>Champion </a:t>
            </a:r>
            <a:r>
              <a:rPr lang="en-US" dirty="0" err="1"/>
              <a:t>Grawl</a:t>
            </a:r>
            <a:r>
              <a:rPr lang="en-US" dirty="0"/>
              <a:t> Shaman Pt. 2</a:t>
            </a:r>
          </a:p>
        </p:txBody>
      </p:sp>
      <p:sp>
        <p:nvSpPr>
          <p:cNvPr id="14" name="Date Placeholder 13">
            <a:extLst>
              <a:ext uri="{FF2B5EF4-FFF2-40B4-BE49-F238E27FC236}">
                <a16:creationId xmlns:a16="http://schemas.microsoft.com/office/drawing/2014/main" id="{DC738669-5750-45EA-9715-A0041D4C569B}"/>
              </a:ext>
            </a:extLst>
          </p:cNvPr>
          <p:cNvSpPr>
            <a:spLocks noGrp="1"/>
          </p:cNvSpPr>
          <p:nvPr>
            <p:ph type="dt" sz="half" idx="10"/>
          </p:nvPr>
        </p:nvSpPr>
        <p:spPr>
          <a:xfrm>
            <a:off x="550863" y="6507212"/>
            <a:ext cx="2628900" cy="153888"/>
          </a:xfrm>
        </p:spPr>
        <p:txBody>
          <a:bodyPr/>
          <a:lstStyle/>
          <a:p>
            <a:r>
              <a:rPr lang="en-US"/>
              <a:t>Tuesday, February 2, 20XX</a:t>
            </a:r>
          </a:p>
        </p:txBody>
      </p:sp>
      <p:sp>
        <p:nvSpPr>
          <p:cNvPr id="15" name="Footer Placeholder 14">
            <a:extLst>
              <a:ext uri="{FF2B5EF4-FFF2-40B4-BE49-F238E27FC236}">
                <a16:creationId xmlns:a16="http://schemas.microsoft.com/office/drawing/2014/main" id="{CD05A243-8080-4F6D-8538-65CDDF891BA6}"/>
              </a:ext>
            </a:extLst>
          </p:cNvPr>
          <p:cNvSpPr>
            <a:spLocks noGrp="1"/>
          </p:cNvSpPr>
          <p:nvPr>
            <p:ph type="ftr" sz="quarter" idx="11"/>
          </p:nvPr>
        </p:nvSpPr>
        <p:spPr>
          <a:xfrm>
            <a:off x="3359150" y="6507212"/>
            <a:ext cx="6379210" cy="153888"/>
          </a:xfrm>
        </p:spPr>
        <p:txBody>
          <a:bodyPr/>
          <a:lstStyle/>
          <a:p>
            <a:r>
              <a:rPr lang="en-US"/>
              <a:t>Sample Footer Text</a:t>
            </a:r>
          </a:p>
        </p:txBody>
      </p:sp>
      <p:pic>
        <p:nvPicPr>
          <p:cNvPr id="7" name="Picture 6">
            <a:extLst>
              <a:ext uri="{FF2B5EF4-FFF2-40B4-BE49-F238E27FC236}">
                <a16:creationId xmlns:a16="http://schemas.microsoft.com/office/drawing/2014/main" id="{01178DFF-B7AE-4FFA-A227-35FDAFD7B54A}"/>
              </a:ext>
            </a:extLst>
          </p:cNvPr>
          <p:cNvPicPr>
            <a:picLocks noChangeAspect="1"/>
          </p:cNvPicPr>
          <p:nvPr/>
        </p:nvPicPr>
        <p:blipFill>
          <a:blip r:embed="rId2"/>
          <a:stretch>
            <a:fillRect/>
          </a:stretch>
        </p:blipFill>
        <p:spPr>
          <a:xfrm>
            <a:off x="8414696" y="3902316"/>
            <a:ext cx="2771775" cy="2124075"/>
          </a:xfrm>
          <a:prstGeom prst="rect">
            <a:avLst/>
          </a:prstGeom>
        </p:spPr>
      </p:pic>
      <p:sp>
        <p:nvSpPr>
          <p:cNvPr id="18" name="Content Placeholder 14">
            <a:extLst>
              <a:ext uri="{FF2B5EF4-FFF2-40B4-BE49-F238E27FC236}">
                <a16:creationId xmlns:a16="http://schemas.microsoft.com/office/drawing/2014/main" id="{B7704326-C910-4355-AF08-0BB18FF0246B}"/>
              </a:ext>
            </a:extLst>
          </p:cNvPr>
          <p:cNvSpPr txBox="1">
            <a:spLocks/>
          </p:cNvSpPr>
          <p:nvPr/>
        </p:nvSpPr>
        <p:spPr>
          <a:xfrm>
            <a:off x="787414" y="1974603"/>
            <a:ext cx="7324739" cy="4051788"/>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7000"/>
              </a:lnSpc>
              <a:spcBef>
                <a:spcPts val="0"/>
              </a:spcBef>
              <a:spcAft>
                <a:spcPts val="0"/>
              </a:spcAft>
            </a:pPr>
            <a:r>
              <a:rPr lang="en-US" sz="1800" dirty="0">
                <a:latin typeface="Times New Roman" panose="02020603050405020304" pitchFamily="18" charset="0"/>
                <a:ea typeface="Calibri" panose="020F0502020204030204" pitchFamily="34" charset="0"/>
                <a:cs typeface="Times New Roman" panose="02020603050405020304" pitchFamily="18" charset="0"/>
              </a:rPr>
              <a:t>The Boss will come down the skull head and start attacking. Have the party stay right in front of the skull head so you can make sure the Champ won’t be able to knock you off the surface.</a:t>
            </a:r>
          </a:p>
          <a:p>
            <a:pPr marL="285750" indent="-285750">
              <a:lnSpc>
                <a:spcPct val="107000"/>
              </a:lnSpc>
              <a:spcBef>
                <a:spcPts val="0"/>
              </a:spcBef>
              <a:spcAft>
                <a:spcPts val="0"/>
              </a:spcAft>
            </a:pPr>
            <a:r>
              <a:rPr lang="en-US" sz="1800" dirty="0">
                <a:latin typeface="Times New Roman" panose="02020603050405020304" pitchFamily="18" charset="0"/>
                <a:ea typeface="Calibri" panose="020F0502020204030204" pitchFamily="34" charset="0"/>
                <a:cs typeface="Times New Roman" panose="02020603050405020304" pitchFamily="18" charset="0"/>
              </a:rPr>
              <a:t>You’ll want to watch out for a big AOE under the boss. It comes out randomly so look for when it’s going to happen because another circle will come out of the boss, getting bigger until it touches the original AOE circle. That’s when you’ll want to stay out of the AOE by dodging last second.</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285750" indent="-285750"/>
            <a:r>
              <a:rPr lang="en-US" sz="1800" dirty="0">
                <a:latin typeface="Times New Roman" panose="02020603050405020304" pitchFamily="18" charset="0"/>
                <a:ea typeface="Calibri" panose="020F0502020204030204" pitchFamily="34" charset="0"/>
              </a:rPr>
              <a:t>From time to time, the shield will pop up again! Which means one teammate, or you will have to pick up a stone and throw it at the boss. That’s the only way you can break the Shield. Soon after, either attack to kill or CC to attack</a:t>
            </a:r>
            <a:endParaRPr lang="en-US" sz="1800" dirty="0"/>
          </a:p>
          <a:p>
            <a:endParaRPr lang="en-US" dirty="0"/>
          </a:p>
        </p:txBody>
      </p:sp>
    </p:spTree>
    <p:extLst>
      <p:ext uri="{BB962C8B-B14F-4D97-AF65-F5344CB8AC3E}">
        <p14:creationId xmlns:p14="http://schemas.microsoft.com/office/powerpoint/2010/main" val="2496947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D10F3D66-0109-4903-90B9-66D0E288F721}"/>
              </a:ext>
              <a:ext uri="{C183D7F6-B498-43B3-948B-1728B52AA6E4}">
                <adec:decorative xmlns:adec="http://schemas.microsoft.com/office/drawing/2017/decorative" val="1"/>
              </a:ext>
            </a:extLst>
          </p:cNvPr>
          <p:cNvGrpSpPr/>
          <p:nvPr/>
        </p:nvGrpSpPr>
        <p:grpSpPr>
          <a:xfrm>
            <a:off x="10379261" y="2030035"/>
            <a:ext cx="1335600" cy="1262947"/>
            <a:chOff x="10145015" y="2343978"/>
            <a:chExt cx="1335600" cy="1262947"/>
          </a:xfrm>
        </p:grpSpPr>
        <p:sp>
          <p:nvSpPr>
            <p:cNvPr id="26" name="Freeform: Shape 25">
              <a:extLst>
                <a:ext uri="{FF2B5EF4-FFF2-40B4-BE49-F238E27FC236}">
                  <a16:creationId xmlns:a16="http://schemas.microsoft.com/office/drawing/2014/main" id="{57DAB968-9B52-4EFF-AD39-7657DFEA6E4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 name="Oval 26">
              <a:extLst>
                <a:ext uri="{FF2B5EF4-FFF2-40B4-BE49-F238E27FC236}">
                  <a16:creationId xmlns:a16="http://schemas.microsoft.com/office/drawing/2014/main" id="{962BE440-9634-4380-B142-5DB692420C52}"/>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7" name="Title 6">
            <a:extLst>
              <a:ext uri="{FF2B5EF4-FFF2-40B4-BE49-F238E27FC236}">
                <a16:creationId xmlns:a16="http://schemas.microsoft.com/office/drawing/2014/main" id="{4B18D636-CC10-4B1E-AA38-419DCCF2D9C9}"/>
              </a:ext>
            </a:extLst>
          </p:cNvPr>
          <p:cNvSpPr>
            <a:spLocks noGrp="1"/>
          </p:cNvSpPr>
          <p:nvPr>
            <p:ph type="title"/>
          </p:nvPr>
        </p:nvSpPr>
        <p:spPr>
          <a:xfrm>
            <a:off x="3585445" y="1373607"/>
            <a:ext cx="5021110" cy="715253"/>
          </a:xfrm>
        </p:spPr>
        <p:txBody>
          <a:bodyPr>
            <a:normAutofit/>
          </a:bodyPr>
          <a:lstStyle/>
          <a:p>
            <a:r>
              <a:rPr lang="en-US" dirty="0"/>
              <a:t>5. Jumping Puzzle</a:t>
            </a:r>
          </a:p>
        </p:txBody>
      </p:sp>
      <p:sp>
        <p:nvSpPr>
          <p:cNvPr id="10" name="Content Placeholder 9">
            <a:extLst>
              <a:ext uri="{FF2B5EF4-FFF2-40B4-BE49-F238E27FC236}">
                <a16:creationId xmlns:a16="http://schemas.microsoft.com/office/drawing/2014/main" id="{1DB251F7-EBE7-46AC-A920-FFE2C5AF68EA}"/>
              </a:ext>
            </a:extLst>
          </p:cNvPr>
          <p:cNvSpPr>
            <a:spLocks noGrp="1"/>
          </p:cNvSpPr>
          <p:nvPr>
            <p:ph sz="half" idx="2"/>
          </p:nvPr>
        </p:nvSpPr>
        <p:spPr>
          <a:xfrm>
            <a:off x="1219192" y="2845700"/>
            <a:ext cx="9753615" cy="1288331"/>
          </a:xfrm>
        </p:spPr>
        <p:txBody>
          <a:bodyPr/>
          <a:lstStyle/>
          <a:p>
            <a:r>
              <a:rPr lang="en-US" dirty="0"/>
              <a:t>It’s very short that doesn’t really count as a Jumping Puzzle, but you can get an achievement for not touching the lava by going through the puzzle. </a:t>
            </a:r>
          </a:p>
        </p:txBody>
      </p:sp>
      <p:sp>
        <p:nvSpPr>
          <p:cNvPr id="22" name="Freeform: Shape 21">
            <a:extLst>
              <a:ext uri="{FF2B5EF4-FFF2-40B4-BE49-F238E27FC236}">
                <a16:creationId xmlns:a16="http://schemas.microsoft.com/office/drawing/2014/main" id="{C6F3814E-455F-456B-B1AF-7B993965A2C0}"/>
              </a:ext>
              <a:ext uri="{C183D7F6-B498-43B3-948B-1728B52AA6E4}">
                <adec:decorative xmlns:adec="http://schemas.microsoft.com/office/drawing/2017/decorative" val="1"/>
              </a:ext>
            </a:extLst>
          </p:cNvPr>
          <p:cNvSpPr>
            <a:spLocks noChangeAspect="1"/>
          </p:cNvSpPr>
          <p:nvPr/>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89134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C15EE852-24F1-4643-8082-AB45CFF2BA10}"/>
              </a:ext>
            </a:extLst>
          </p:cNvPr>
          <p:cNvSpPr>
            <a:spLocks noGrp="1"/>
          </p:cNvSpPr>
          <p:nvPr>
            <p:ph type="title"/>
          </p:nvPr>
        </p:nvSpPr>
        <p:spPr>
          <a:xfrm>
            <a:off x="3216283" y="434826"/>
            <a:ext cx="5759433" cy="871843"/>
          </a:xfrm>
        </p:spPr>
        <p:txBody>
          <a:bodyPr>
            <a:normAutofit/>
          </a:bodyPr>
          <a:lstStyle/>
          <a:p>
            <a:r>
              <a:rPr lang="en-US" dirty="0"/>
              <a:t>6. Final Boss: Caldera Pt. 1</a:t>
            </a:r>
          </a:p>
        </p:txBody>
      </p:sp>
      <p:pic>
        <p:nvPicPr>
          <p:cNvPr id="5" name="Picture 4">
            <a:extLst>
              <a:ext uri="{FF2B5EF4-FFF2-40B4-BE49-F238E27FC236}">
                <a16:creationId xmlns:a16="http://schemas.microsoft.com/office/drawing/2014/main" id="{24489DE2-33B4-4A68-A53B-26C2665D4A9C}"/>
              </a:ext>
            </a:extLst>
          </p:cNvPr>
          <p:cNvPicPr>
            <a:picLocks noChangeAspect="1"/>
          </p:cNvPicPr>
          <p:nvPr/>
        </p:nvPicPr>
        <p:blipFill>
          <a:blip r:embed="rId2"/>
          <a:stretch>
            <a:fillRect/>
          </a:stretch>
        </p:blipFill>
        <p:spPr>
          <a:xfrm>
            <a:off x="9541099" y="4363412"/>
            <a:ext cx="647700" cy="409575"/>
          </a:xfrm>
          <a:prstGeom prst="rect">
            <a:avLst/>
          </a:prstGeom>
        </p:spPr>
      </p:pic>
      <p:pic>
        <p:nvPicPr>
          <p:cNvPr id="4098" name="Picture 2" descr="Level 44 Fractals- Legendary Imbued Shaman - YouTube">
            <a:extLst>
              <a:ext uri="{FF2B5EF4-FFF2-40B4-BE49-F238E27FC236}">
                <a16:creationId xmlns:a16="http://schemas.microsoft.com/office/drawing/2014/main" id="{E9C5F195-F507-4C1A-BC1F-E16BFC7ABF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472" t="-1" r="19018" b="45077"/>
          <a:stretch/>
        </p:blipFill>
        <p:spPr bwMode="auto">
          <a:xfrm>
            <a:off x="613359" y="1933966"/>
            <a:ext cx="5670478" cy="3766657"/>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1B84E2A3-8D40-4EAE-86B3-3D9FB0E6389E}"/>
              </a:ext>
            </a:extLst>
          </p:cNvPr>
          <p:cNvSpPr txBox="1"/>
          <p:nvPr/>
        </p:nvSpPr>
        <p:spPr>
          <a:xfrm>
            <a:off x="6095999" y="2487639"/>
            <a:ext cx="5296055" cy="2146934"/>
          </a:xfrm>
          <a:prstGeom prst="rect">
            <a:avLst/>
          </a:prstGeom>
          <a:noFill/>
        </p:spPr>
        <p:txBody>
          <a:bodyPr wrap="square">
            <a:spAutoFit/>
          </a:bodyPr>
          <a:lstStyle/>
          <a:p>
            <a:pPr marL="742950" lvl="1" indent="-285750">
              <a:lnSpc>
                <a:spcPct val="107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There are Holes around the surface surrounded by lava. Watch out for them because the lava will fill it up and deal damage if you stand in it.</a:t>
            </a:r>
          </a:p>
          <a:p>
            <a:pPr marL="742950" lvl="1" indent="-285750">
              <a:lnSpc>
                <a:spcPct val="107000"/>
              </a:lnSpc>
              <a:spcBef>
                <a:spcPts val="0"/>
              </a:spcBef>
              <a:spcAft>
                <a:spcPts val="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Once you step on the surface, you’ll start getting a burning effect that will continuously stack until you K.O., but you can avoid this by constantly running around. </a:t>
            </a:r>
          </a:p>
        </p:txBody>
      </p:sp>
    </p:spTree>
    <p:extLst>
      <p:ext uri="{BB962C8B-B14F-4D97-AF65-F5344CB8AC3E}">
        <p14:creationId xmlns:p14="http://schemas.microsoft.com/office/powerpoint/2010/main" val="395518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D72D26-24EF-4CBD-9431-A558CB7CA906}"/>
              </a:ext>
            </a:extLst>
          </p:cNvPr>
          <p:cNvSpPr>
            <a:spLocks noGrp="1"/>
          </p:cNvSpPr>
          <p:nvPr>
            <p:ph type="title"/>
          </p:nvPr>
        </p:nvSpPr>
        <p:spPr>
          <a:xfrm>
            <a:off x="2541857" y="240004"/>
            <a:ext cx="7108286" cy="658740"/>
          </a:xfrm>
        </p:spPr>
        <p:txBody>
          <a:bodyPr/>
          <a:lstStyle/>
          <a:p>
            <a:r>
              <a:rPr lang="en-US" dirty="0"/>
              <a:t>7. Final Boss: Caldera Pt. 2</a:t>
            </a:r>
          </a:p>
        </p:txBody>
      </p:sp>
      <p:sp>
        <p:nvSpPr>
          <p:cNvPr id="6" name="Slide Number Placeholder 5">
            <a:extLst>
              <a:ext uri="{FF2B5EF4-FFF2-40B4-BE49-F238E27FC236}">
                <a16:creationId xmlns:a16="http://schemas.microsoft.com/office/drawing/2014/main" id="{5E5CAC52-3FD1-464A-805A-B8F7AF04574A}"/>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8</a:t>
            </a:fld>
            <a:endParaRPr lang="en-US"/>
          </a:p>
        </p:txBody>
      </p:sp>
      <p:sp>
        <p:nvSpPr>
          <p:cNvPr id="8" name="Content Placeholder 7">
            <a:extLst>
              <a:ext uri="{FF2B5EF4-FFF2-40B4-BE49-F238E27FC236}">
                <a16:creationId xmlns:a16="http://schemas.microsoft.com/office/drawing/2014/main" id="{EA3AD0B6-48ED-4AD1-87D3-643D7551DC12}"/>
              </a:ext>
            </a:extLst>
          </p:cNvPr>
          <p:cNvSpPr>
            <a:spLocks noGrp="1"/>
          </p:cNvSpPr>
          <p:nvPr>
            <p:ph idx="1"/>
          </p:nvPr>
        </p:nvSpPr>
        <p:spPr>
          <a:xfrm>
            <a:off x="508919" y="1007931"/>
            <a:ext cx="6135163" cy="330890"/>
          </a:xfrm>
        </p:spPr>
        <p:txBody>
          <a:bodyPr/>
          <a:lstStyle/>
          <a:p>
            <a:r>
              <a:rPr lang="en-US" dirty="0"/>
              <a:t>There are two main Mechanics to watch out for:</a:t>
            </a:r>
          </a:p>
        </p:txBody>
      </p:sp>
      <p:pic>
        <p:nvPicPr>
          <p:cNvPr id="6146" name="Picture 2" descr="s1 vol second boss1">
            <a:extLst>
              <a:ext uri="{FF2B5EF4-FFF2-40B4-BE49-F238E27FC236}">
                <a16:creationId xmlns:a16="http://schemas.microsoft.com/office/drawing/2014/main" id="{4B07FBF8-D735-40D1-8AD4-26889C816B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118" r="21976" b="24852"/>
          <a:stretch/>
        </p:blipFill>
        <p:spPr bwMode="auto">
          <a:xfrm>
            <a:off x="1518770" y="3192867"/>
            <a:ext cx="3686111" cy="317801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1E6DE79-470C-4D59-A54E-BCA3FFA7BCE6}"/>
              </a:ext>
            </a:extLst>
          </p:cNvPr>
          <p:cNvSpPr txBox="1"/>
          <p:nvPr/>
        </p:nvSpPr>
        <p:spPr>
          <a:xfrm>
            <a:off x="6439948" y="1444192"/>
            <a:ext cx="5078136" cy="1477328"/>
          </a:xfrm>
          <a:prstGeom prst="rect">
            <a:avLst/>
          </a:prstGeom>
          <a:noFill/>
        </p:spPr>
        <p:txBody>
          <a:bodyPr wrap="square">
            <a:spAutoFit/>
          </a:bodyPr>
          <a:lstStyle/>
          <a:p>
            <a:pPr lvl="1"/>
            <a:r>
              <a:rPr lang="en-US" dirty="0"/>
              <a:t>2.  When the Boss flies upwards and comes straight back down. When you see the Boss come down, dodge out last second. That’s how you can avoid a Multi-Lava AOE that stays on the ground for a few seconds.</a:t>
            </a:r>
          </a:p>
        </p:txBody>
      </p:sp>
      <p:sp>
        <p:nvSpPr>
          <p:cNvPr id="13" name="TextBox 12">
            <a:extLst>
              <a:ext uri="{FF2B5EF4-FFF2-40B4-BE49-F238E27FC236}">
                <a16:creationId xmlns:a16="http://schemas.microsoft.com/office/drawing/2014/main" id="{0A991024-74EA-4310-9EF1-865F1A4EAF87}"/>
              </a:ext>
            </a:extLst>
          </p:cNvPr>
          <p:cNvSpPr txBox="1"/>
          <p:nvPr/>
        </p:nvSpPr>
        <p:spPr>
          <a:xfrm>
            <a:off x="345346" y="1438541"/>
            <a:ext cx="6094602" cy="1754326"/>
          </a:xfrm>
          <a:prstGeom prst="rect">
            <a:avLst/>
          </a:prstGeom>
          <a:noFill/>
        </p:spPr>
        <p:txBody>
          <a:bodyPr wrap="square">
            <a:spAutoFit/>
          </a:bodyPr>
          <a:lstStyle/>
          <a:p>
            <a:pPr lvl="1"/>
            <a:r>
              <a:rPr lang="en-US" dirty="0"/>
              <a:t>1.  A Big red AOE under the boss where there will be another AOE getting bigger and bigger until it touches the outer red AOE. When it touches, you’ll want to stay out of it.  You can either </a:t>
            </a:r>
            <a:r>
              <a:rPr lang="en-US" dirty="0" err="1"/>
              <a:t>dps</a:t>
            </a:r>
            <a:r>
              <a:rPr lang="en-US" dirty="0"/>
              <a:t> and then dodge out at the last second or you can move backwards until you are out of the AOE but still attack ranged. </a:t>
            </a:r>
          </a:p>
        </p:txBody>
      </p:sp>
      <p:pic>
        <p:nvPicPr>
          <p:cNvPr id="6148" name="Picture 4" descr="GW2 - Volcanic Fractal Guide - GuildJen">
            <a:extLst>
              <a:ext uri="{FF2B5EF4-FFF2-40B4-BE49-F238E27FC236}">
                <a16:creationId xmlns:a16="http://schemas.microsoft.com/office/drawing/2014/main" id="{846080A9-96DB-45F6-9183-2559D33507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7766" y="2921520"/>
            <a:ext cx="3560064" cy="3560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630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74" name="Freeform: Shape 73">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5" name="Oval 74">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6" name="Oval 75">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7" name="Freeform: Shape 76">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79" name="Rectangle 78">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ED2A30C0-1BC4-4764-9C0F-5D811CAB8312}"/>
              </a:ext>
            </a:extLst>
          </p:cNvPr>
          <p:cNvSpPr>
            <a:spLocks noGrp="1"/>
          </p:cNvSpPr>
          <p:nvPr>
            <p:ph type="ctrTitle"/>
          </p:nvPr>
        </p:nvSpPr>
        <p:spPr>
          <a:xfrm>
            <a:off x="510854" y="343548"/>
            <a:ext cx="5833158" cy="1996677"/>
          </a:xfrm>
        </p:spPr>
        <p:txBody>
          <a:bodyPr vert="horz" wrap="square" lIns="0" tIns="0" rIns="0" bIns="0" rtlCol="0" anchor="b" anchorCtr="0">
            <a:normAutofit/>
          </a:bodyPr>
          <a:lstStyle/>
          <a:p>
            <a:pPr>
              <a:lnSpc>
                <a:spcPct val="100000"/>
              </a:lnSpc>
            </a:pPr>
            <a:r>
              <a:rPr lang="en-US" sz="6400" kern="1200" dirty="0">
                <a:solidFill>
                  <a:schemeClr val="tx1"/>
                </a:solidFill>
                <a:latin typeface="+mj-lt"/>
                <a:ea typeface="+mj-ea"/>
                <a:cs typeface="+mj-cs"/>
              </a:rPr>
              <a:t>8. Final Boss: Caldera Pt. 3</a:t>
            </a:r>
          </a:p>
        </p:txBody>
      </p:sp>
      <p:pic>
        <p:nvPicPr>
          <p:cNvPr id="5124" name="Picture 4">
            <a:extLst>
              <a:ext uri="{FF2B5EF4-FFF2-40B4-BE49-F238E27FC236}">
                <a16:creationId xmlns:a16="http://schemas.microsoft.com/office/drawing/2014/main" id="{FB8A538A-0E1C-4E94-94EE-5C0501F346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619" t="6432" r="22145" b="11195"/>
          <a:stretch/>
        </p:blipFill>
        <p:spPr bwMode="auto">
          <a:xfrm>
            <a:off x="6096000" y="237439"/>
            <a:ext cx="2360645" cy="2304215"/>
          </a:xfrm>
          <a:custGeom>
            <a:avLst/>
            <a:gdLst/>
            <a:ahLst/>
            <a:cxnLst/>
            <a:rect l="l" t="t" r="r" b="b"/>
            <a:pathLst>
              <a:path w="5632453" h="3428999">
                <a:moveTo>
                  <a:pt x="0" y="0"/>
                </a:moveTo>
                <a:lnTo>
                  <a:pt x="5632453" y="0"/>
                </a:lnTo>
                <a:lnTo>
                  <a:pt x="5632453" y="3428999"/>
                </a:lnTo>
                <a:lnTo>
                  <a:pt x="0" y="3428999"/>
                </a:lnTo>
                <a:close/>
              </a:path>
            </a:pathLst>
          </a:custGeom>
          <a:noFill/>
          <a:extLst>
            <a:ext uri="{909E8E84-426E-40DD-AFC4-6F175D3DCCD1}">
              <a14:hiddenFill xmlns:a14="http://schemas.microsoft.com/office/drawing/2010/main">
                <a:solidFill>
                  <a:srgbClr val="FFFFFF"/>
                </a:solidFill>
              </a14:hiddenFill>
            </a:ext>
          </a:extLst>
        </p:spPr>
      </p:pic>
      <p:pic>
        <p:nvPicPr>
          <p:cNvPr id="5122" name="Picture 2" descr="gw039">
            <a:extLst>
              <a:ext uri="{FF2B5EF4-FFF2-40B4-BE49-F238E27FC236}">
                <a16:creationId xmlns:a16="http://schemas.microsoft.com/office/drawing/2014/main" id="{08B4F562-778F-49A1-9EA2-44B13979249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195" r="36594" b="38064"/>
          <a:stretch/>
        </p:blipFill>
        <p:spPr bwMode="auto">
          <a:xfrm>
            <a:off x="8073805" y="2622211"/>
            <a:ext cx="3253558" cy="3735318"/>
          </a:xfrm>
          <a:custGeom>
            <a:avLst/>
            <a:gdLst/>
            <a:ahLst/>
            <a:cxnLst/>
            <a:rect l="l" t="t" r="r" b="b"/>
            <a:pathLst>
              <a:path w="5632453" h="3428999">
                <a:moveTo>
                  <a:pt x="0" y="0"/>
                </a:moveTo>
                <a:lnTo>
                  <a:pt x="5632453" y="0"/>
                </a:lnTo>
                <a:lnTo>
                  <a:pt x="5632453" y="3428999"/>
                </a:lnTo>
                <a:lnTo>
                  <a:pt x="0" y="3428999"/>
                </a:lnTo>
                <a:close/>
              </a:path>
            </a:pathLst>
          </a:custGeom>
          <a:noFill/>
          <a:extLst>
            <a:ext uri="{909E8E84-426E-40DD-AFC4-6F175D3DCCD1}">
              <a14:hiddenFill xmlns:a14="http://schemas.microsoft.com/office/drawing/2010/main">
                <a:solidFill>
                  <a:srgbClr val="FFFFFF"/>
                </a:solidFill>
              </a14:hiddenFill>
            </a:ext>
          </a:extLst>
        </p:spPr>
      </p:pic>
      <p:sp>
        <p:nvSpPr>
          <p:cNvPr id="81" name="Rectangle 80">
            <a:extLst>
              <a:ext uri="{FF2B5EF4-FFF2-40B4-BE49-F238E27FC236}">
                <a16:creationId xmlns:a16="http://schemas.microsoft.com/office/drawing/2014/main" id="{A16EB032-3F37-4641-A90D-DC9B574EBC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40">
            <a:extLst>
              <a:ext uri="{FF2B5EF4-FFF2-40B4-BE49-F238E27FC236}">
                <a16:creationId xmlns:a16="http://schemas.microsoft.com/office/drawing/2014/main" id="{91181F6D-A54F-4289-8C36-80ECE3B2C8E2}"/>
              </a:ext>
            </a:extLst>
          </p:cNvPr>
          <p:cNvSpPr>
            <a:spLocks noGrp="1"/>
          </p:cNvSpPr>
          <p:nvPr>
            <p:ph type="body" sz="quarter" idx="18"/>
          </p:nvPr>
        </p:nvSpPr>
        <p:spPr>
          <a:xfrm>
            <a:off x="510854" y="2779093"/>
            <a:ext cx="7052097" cy="3573771"/>
          </a:xfrm>
        </p:spPr>
        <p:txBody>
          <a:bodyPr vert="horz" wrap="square" lIns="0" tIns="0" rIns="0" bIns="0" rtlCol="0" anchor="t">
            <a:noAutofit/>
          </a:bodyPr>
          <a:lstStyle/>
          <a:p>
            <a:pPr>
              <a:lnSpc>
                <a:spcPct val="100000"/>
              </a:lnSpc>
              <a:buFont typeface="Arial" panose="020B0604020202020204" pitchFamily="34" charset="0"/>
              <a:buChar char="•"/>
            </a:pPr>
            <a:r>
              <a:rPr lang="en-US" sz="1600" b="0" dirty="0"/>
              <a:t>Phases:  There are three phases at 75%, 50%, and 25%. </a:t>
            </a:r>
          </a:p>
          <a:p>
            <a:pPr marL="342900">
              <a:lnSpc>
                <a:spcPct val="100000"/>
              </a:lnSpc>
              <a:buFont typeface="Arial" panose="020B0604020202020204" pitchFamily="34" charset="0"/>
              <a:buChar char="•"/>
            </a:pPr>
            <a:r>
              <a:rPr lang="en-US" sz="1600" b="0" dirty="0"/>
              <a:t>This is where the boss will put up a lava shield and fly over to a villager. While the boss flies over, there will be lava elementals that will also deal damage to you so make sure to deal with those elementals. If the Boss gets to the villager, it will kill the villager and gain back the health it just lost. </a:t>
            </a:r>
          </a:p>
          <a:p>
            <a:pPr marL="800100" lvl="1">
              <a:lnSpc>
                <a:spcPct val="100000"/>
              </a:lnSpc>
            </a:pPr>
            <a:r>
              <a:rPr lang="en-US" sz="1600" dirty="0"/>
              <a:t>Best Strategy: DPS!!! As Much As You Can!! Until the shield breaks. You can have one player focus on killing the elementals while have the rest of the group go full out DPS rotations to break the shield before it gets to a Villager. </a:t>
            </a:r>
          </a:p>
          <a:p>
            <a:pPr marL="800100" lvl="1">
              <a:lnSpc>
                <a:spcPct val="100000"/>
              </a:lnSpc>
            </a:pPr>
            <a:r>
              <a:rPr lang="en-US" sz="1600" b="0" dirty="0"/>
              <a:t>There </a:t>
            </a:r>
            <a:r>
              <a:rPr lang="en-US" sz="1600" dirty="0"/>
              <a:t>is no end to the Villagers! If you have already gone through 4 Villagers, they will just keep on popping up so make sure you break the shield so the boss doesn’t heal up!</a:t>
            </a:r>
            <a:endParaRPr lang="en-US" sz="1600" b="0" dirty="0"/>
          </a:p>
        </p:txBody>
      </p:sp>
      <p:sp>
        <p:nvSpPr>
          <p:cNvPr id="31" name="TextBox 30">
            <a:extLst>
              <a:ext uri="{FF2B5EF4-FFF2-40B4-BE49-F238E27FC236}">
                <a16:creationId xmlns:a16="http://schemas.microsoft.com/office/drawing/2014/main" id="{6CDCCDCC-4088-450B-AB29-F34626E14F1D}"/>
              </a:ext>
            </a:extLst>
          </p:cNvPr>
          <p:cNvSpPr txBox="1"/>
          <p:nvPr/>
        </p:nvSpPr>
        <p:spPr>
          <a:xfrm>
            <a:off x="8959443" y="921411"/>
            <a:ext cx="1870745" cy="1200329"/>
          </a:xfrm>
          <a:prstGeom prst="rect">
            <a:avLst/>
          </a:prstGeom>
          <a:noFill/>
        </p:spPr>
        <p:txBody>
          <a:bodyPr wrap="square" rtlCol="0">
            <a:spAutoFit/>
          </a:bodyPr>
          <a:lstStyle/>
          <a:p>
            <a:r>
              <a:rPr lang="en-US" dirty="0"/>
              <a:t>Now repeat the Mechanics until you’ve killed the final boss!!</a:t>
            </a:r>
          </a:p>
        </p:txBody>
      </p:sp>
    </p:spTree>
    <p:extLst>
      <p:ext uri="{BB962C8B-B14F-4D97-AF65-F5344CB8AC3E}">
        <p14:creationId xmlns:p14="http://schemas.microsoft.com/office/powerpoint/2010/main" val="2979876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F8FAEED9-1ECD-45F9-87A0-9394BAEABB79}"/>
              </a:ext>
            </a:extLst>
          </p:cNvPr>
          <p:cNvSpPr>
            <a:spLocks noGrp="1"/>
          </p:cNvSpPr>
          <p:nvPr>
            <p:ph type="ctrTitle"/>
          </p:nvPr>
        </p:nvSpPr>
        <p:spPr>
          <a:xfrm>
            <a:off x="2807501" y="2181589"/>
            <a:ext cx="3819802" cy="1247411"/>
          </a:xfrm>
        </p:spPr>
        <p:txBody>
          <a:bodyPr/>
          <a:lstStyle/>
          <a:p>
            <a:r>
              <a:rPr lang="en-US" sz="6000"/>
              <a:t>Good Luck</a:t>
            </a:r>
            <a:endParaRPr lang="en-US" sz="6000" dirty="0"/>
          </a:p>
        </p:txBody>
      </p:sp>
      <p:sp>
        <p:nvSpPr>
          <p:cNvPr id="9" name="Heart 8">
            <a:extLst>
              <a:ext uri="{FF2B5EF4-FFF2-40B4-BE49-F238E27FC236}">
                <a16:creationId xmlns:a16="http://schemas.microsoft.com/office/drawing/2014/main" id="{567B1271-1420-4065-928D-013576162A35}"/>
              </a:ext>
            </a:extLst>
          </p:cNvPr>
          <p:cNvSpPr/>
          <p:nvPr/>
        </p:nvSpPr>
        <p:spPr>
          <a:xfrm>
            <a:off x="6627303" y="1816256"/>
            <a:ext cx="2648210" cy="2127432"/>
          </a:xfrm>
          <a:prstGeom prst="hear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D1DC383-2E76-4302-B2B1-C8200113E57B}"/>
              </a:ext>
            </a:extLst>
          </p:cNvPr>
          <p:cNvSpPr txBox="1"/>
          <p:nvPr/>
        </p:nvSpPr>
        <p:spPr>
          <a:xfrm>
            <a:off x="3527570" y="4891284"/>
            <a:ext cx="4538444" cy="369332"/>
          </a:xfrm>
          <a:prstGeom prst="rect">
            <a:avLst/>
          </a:prstGeom>
          <a:noFill/>
        </p:spPr>
        <p:txBody>
          <a:bodyPr wrap="square" rtlCol="0">
            <a:spAutoFit/>
          </a:bodyPr>
          <a:lstStyle/>
          <a:p>
            <a:r>
              <a:rPr lang="en-US" dirty="0"/>
              <a:t>If you have any Questions, Feel Free To DM me</a:t>
            </a:r>
          </a:p>
        </p:txBody>
      </p:sp>
    </p:spTree>
    <p:extLst>
      <p:ext uri="{BB962C8B-B14F-4D97-AF65-F5344CB8AC3E}">
        <p14:creationId xmlns:p14="http://schemas.microsoft.com/office/powerpoint/2010/main" val="3247798845"/>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4751AB-E840-446F-8D49-E697067EC887}">
  <ds:schemaRefs>
    <ds:schemaRef ds:uri="http://schemas.microsoft.com/sharepoint/v3/contenttype/forms"/>
  </ds:schemaRefs>
</ds:datastoreItem>
</file>

<file path=customXml/itemProps2.xml><?xml version="1.0" encoding="utf-8"?>
<ds:datastoreItem xmlns:ds="http://schemas.openxmlformats.org/officeDocument/2006/customXml" ds:itemID="{50811A92-D464-4AC4-A396-BA73B10CEEA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DE4876F9-7AE1-498D-B8FE-1E3AD703D2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{CDFAB83B-D9AD-49C5-8701-62EF0BAEE476}tf33713516_win32</Template>
  <TotalTime>1748</TotalTime>
  <Words>925</Words>
  <Application>Microsoft Office PowerPoint</Application>
  <PresentationFormat>Widescreen</PresentationFormat>
  <Paragraphs>48</Paragraphs>
  <Slides>10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Gill Sans MT</vt:lpstr>
      <vt:lpstr>Times New Roman</vt:lpstr>
      <vt:lpstr>Walbaum Display</vt:lpstr>
      <vt:lpstr>3DFloatVTI</vt:lpstr>
      <vt:lpstr>Volcanic Fractal  Scales:  1, 19, 28, 52, 92</vt:lpstr>
      <vt:lpstr>1. Kill: Stop the Grawl from Completing the Ritual</vt:lpstr>
      <vt:lpstr>2. Pop-up Scene: Rolling Meteors</vt:lpstr>
      <vt:lpstr>3. Mini Boss/Game:  Protect Villagers Pt. 1 </vt:lpstr>
      <vt:lpstr>4. Mini Boss/Game:  Champion Grawl Shaman Pt. 2</vt:lpstr>
      <vt:lpstr>5. Jumping Puzzle</vt:lpstr>
      <vt:lpstr>6. Final Boss: Caldera Pt. 1</vt:lpstr>
      <vt:lpstr>7. Final Boss: Caldera Pt. 2</vt:lpstr>
      <vt:lpstr>8. Final Boss: Caldera Pt. 3</vt:lpstr>
      <vt:lpstr>Good Luck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Volcanic Fractal  Scales:  1, 19, 28, 52, 92</dc:title>
  <dc:creator>Michelle You</dc:creator>
  <cp:lastModifiedBy>Michelle You</cp:lastModifiedBy>
  <cp:revision>1</cp:revision>
  <dcterms:created xsi:type="dcterms:W3CDTF">2022-03-28T23:28:40Z</dcterms:created>
  <dcterms:modified xsi:type="dcterms:W3CDTF">2022-04-04T22:20:05Z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