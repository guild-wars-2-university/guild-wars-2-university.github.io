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484" autoAdjust="0"/>
    <p:restoredTop sz="94660"/>
  </p:normalViewPr>
  <p:slideViewPr>
    <p:cSldViewPr snapToGrid="0">
      <p:cViewPr varScale="1">
        <p:scale>
          <a:sx n="114" d="100"/>
          <a:sy n="114" d="100"/>
        </p:scale>
        <p:origin x="90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74423" y="802298"/>
            <a:ext cx="8637073" cy="2920713"/>
          </a:xfrm>
        </p:spPr>
        <p:txBody>
          <a:bodyPr bIns="0" anchor="b">
            <a:normAutofit/>
          </a:bodyPr>
          <a:lstStyle>
            <a:lvl1pPr algn="ctr">
              <a:defRPr sz="6600"/>
            </a:lvl1pPr>
          </a:lstStyle>
          <a:p>
            <a:r>
              <a:rPr lang="en-US"/>
              <a:t>Click to edit Master title style</a:t>
            </a:r>
            <a:endParaRPr lang="en-US" dirty="0"/>
          </a:p>
        </p:txBody>
      </p:sp>
      <p:sp>
        <p:nvSpPr>
          <p:cNvPr id="3" name="Subtitle 2"/>
          <p:cNvSpPr>
            <a:spLocks noGrp="1"/>
          </p:cNvSpPr>
          <p:nvPr>
            <p:ph type="subTitle" idx="1"/>
          </p:nvPr>
        </p:nvSpPr>
        <p:spPr>
          <a:xfrm>
            <a:off x="1774424" y="3724074"/>
            <a:ext cx="8637072" cy="977621"/>
          </a:xfrm>
        </p:spPr>
        <p:txBody>
          <a:bodyPr tIns="91440" bIns="91440">
            <a:normAutofit/>
          </a:bodyPr>
          <a:lstStyle>
            <a:lvl1pPr marL="0" indent="0" algn="ctr">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423BF71-38B7-8642-BFCE-EDAE9BD0CBAF}" type="datetimeFigureOut">
              <a:rPr lang="en-US" smtClean="0"/>
              <a:t>4/24/2022</a:t>
            </a:fld>
            <a:endParaRPr lang="en-US" dirty="0"/>
          </a:p>
        </p:txBody>
      </p:sp>
      <p:sp>
        <p:nvSpPr>
          <p:cNvPr id="5" name="Footer Placeholder 4"/>
          <p:cNvSpPr>
            <a:spLocks noGrp="1"/>
          </p:cNvSpPr>
          <p:nvPr>
            <p:ph type="ftr" sz="quarter" idx="11"/>
          </p:nvPr>
        </p:nvSpPr>
        <p:spPr>
          <a:xfrm>
            <a:off x="1451579" y="329307"/>
            <a:ext cx="5626774" cy="309201"/>
          </a:xfrm>
        </p:spPr>
        <p:txBody>
          <a:bodyPr/>
          <a:lstStyle/>
          <a:p>
            <a:endParaRPr lang="en-US" dirty="0"/>
          </a:p>
        </p:txBody>
      </p:sp>
      <p:sp>
        <p:nvSpPr>
          <p:cNvPr id="6" name="Slide Number Placeholder 5"/>
          <p:cNvSpPr>
            <a:spLocks noGrp="1"/>
          </p:cNvSpPr>
          <p:nvPr>
            <p:ph type="sldNum" sz="quarter" idx="12"/>
          </p:nvPr>
        </p:nvSpPr>
        <p:spPr>
          <a:xfrm>
            <a:off x="476834" y="798973"/>
            <a:ext cx="811019" cy="503578"/>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37142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981CDE-9BE7-C544-8ACB-7077DFC4270F}" type="datetimeFigureOut">
              <a:rPr lang="en-US" smtClean="0"/>
              <a:t>4/24/2022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445400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74423" y="1756130"/>
            <a:ext cx="8643154" cy="1969007"/>
          </a:xfrm>
        </p:spPr>
        <p:txBody>
          <a:bodyPr anchor="b">
            <a:normAutofit/>
          </a:bodyPr>
          <a:lstStyle>
            <a:lvl1pPr algn="ctr">
              <a:defRPr sz="3600"/>
            </a:lvl1pPr>
          </a:lstStyle>
          <a:p>
            <a:r>
              <a:rPr lang="en-US"/>
              <a:t>Click to edit Master title style</a:t>
            </a:r>
            <a:endParaRPr lang="en-US" dirty="0"/>
          </a:p>
        </p:txBody>
      </p:sp>
      <p:sp>
        <p:nvSpPr>
          <p:cNvPr id="3" name="Text Placeholder 2"/>
          <p:cNvSpPr>
            <a:spLocks noGrp="1"/>
          </p:cNvSpPr>
          <p:nvPr>
            <p:ph type="body" idx="1"/>
          </p:nvPr>
        </p:nvSpPr>
        <p:spPr>
          <a:xfrm>
            <a:off x="1774423" y="3725137"/>
            <a:ext cx="8643154" cy="1093987"/>
          </a:xfrm>
        </p:spPr>
        <p:txBody>
          <a:bodyPr tIns="91440">
            <a:normAutofit/>
          </a:bodyPr>
          <a:lstStyle>
            <a:lvl1pPr marL="0" indent="0" algn="ct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5BA285-9698-1B45-8319-D90A8C63F150}" type="datetimeFigureOut">
              <a:rPr lang="en-US" smtClean="0"/>
              <a:t>4/24/2022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87152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29357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488654"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54140" y="2017343"/>
            <a:ext cx="4488654"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86CD42-43FF-B740-998F-DCC3802C4CE3}" type="datetimeFigureOut">
              <a:rPr lang="en-US" smtClean="0"/>
              <a:t>4/24/2022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73800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295603"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488794"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488794"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56025" y="2023003"/>
            <a:ext cx="4488794"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6025" y="2821491"/>
            <a:ext cx="4488794"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EA0FFBD-2EE4-8547-BBAE-A1AC91C8D77E}" type="datetimeFigureOut">
              <a:rPr lang="en-US" smtClean="0"/>
              <a:t>4/24/2022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72902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55A2352-D7AC-F242-9256-A4477BCBF354}" type="datetimeFigureOut">
              <a:rPr lang="en-US" smtClean="0"/>
              <a:t>4/24/2022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405324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FCFC6A-9AE6-404D-9FDD-168B477B9C90}" type="datetimeFigureOut">
              <a:rPr lang="en-US" smtClean="0"/>
              <a:t>4/24/2022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51511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2961967" cy="2406518"/>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73032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2961967"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CFCDFD-B4CF-A241-8D71-E814B10BEAF4}" type="datetimeFigureOut">
              <a:rPr lang="en-US" smtClean="0"/>
              <a:t>4/24/2022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74685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blipFill dpi="0" rotWithShape="1">
              <a:blip r:embed="rId2">
                <a:alphaModFix amt="30000"/>
              </a:blip>
              <a:srcRect/>
              <a:tile tx="0" ty="0" sx="100000" sy="100000" flip="none" algn="ctr"/>
            </a:blip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extrusionH="76200" contourW="12700" prstMaterial="matte">
              <a:bevelT w="152400" h="50800" prst="softRound"/>
              <a:extrusionClr>
                <a:schemeClr val="tx2"/>
              </a:extrusionClr>
              <a:contourClr>
                <a:schemeClr val="bg2"/>
              </a:contourClr>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38100" cmpd="sng">
              <a:solidFill>
                <a:schemeClr val="tx2">
                  <a:lumMod val="25000"/>
                </a:schemeClr>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2"/>
            <a:ext cx="5532328" cy="1922299"/>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50000"/>
              <a:lumOff val="50000"/>
              <a:alpha val="80000"/>
            </a:schemeClr>
          </a:solidFill>
          <a:ln w="9525" cap="sq">
            <a:noFill/>
            <a:miter lim="800000"/>
          </a:ln>
          <a:effectLst/>
        </p:spPr>
        <p:txBody>
          <a:bodyPr vert="horz" lIns="91440" tIns="45720" rIns="91440" bIns="45720" rtlCol="0" anchor="t">
            <a:normAutofit/>
          </a:bodyPr>
          <a:lstStyle>
            <a:lvl1pPr>
              <a:defRPr lang="en-US" sz="3200" dirty="0"/>
            </a:lvl1pPr>
          </a:lstStyle>
          <a:p>
            <a:pPr lvl="0" algn="ctr"/>
            <a:r>
              <a:rPr lang="en-US"/>
              <a:t>Click icon to add picture</a:t>
            </a:r>
            <a:endParaRPr lang="en-US" dirty="0"/>
          </a:p>
        </p:txBody>
      </p:sp>
      <p:sp>
        <p:nvSpPr>
          <p:cNvPr id="4" name="Text Placeholder 3"/>
          <p:cNvSpPr>
            <a:spLocks noGrp="1"/>
          </p:cNvSpPr>
          <p:nvPr>
            <p:ph type="body" sz="half" idx="2"/>
          </p:nvPr>
        </p:nvSpPr>
        <p:spPr>
          <a:xfrm>
            <a:off x="1450329" y="3059600"/>
            <a:ext cx="5524404" cy="2090134"/>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26A7B589-FD4B-7E46-869A-CBADC5FC564E}" type="datetimeFigureOut">
              <a:rPr lang="en-US" smtClean="0"/>
              <a:t>4/24/2022</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39508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B025CB-9D18-264E-A945-2D020344C9DA}" type="datetimeFigureOut">
              <a:rPr lang="en-US" smtClean="0"/>
              <a:t>4/24/2022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37015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7052"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518654"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7EFB6C-7E96-8F41-8872-189CA1C59F84}" type="datetimeFigureOut">
              <a:rPr lang="en-US" smtClean="0"/>
              <a:t>4/24/2022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10805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51579" y="804519"/>
            <a:ext cx="9291215" cy="104923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29121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42079"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CD8A92E-5FF9-8143-81B3-CCB531513398}" type="datetimeFigureOut">
              <a:rPr lang="en-US" smtClean="0"/>
              <a:t>4/24/2022</a:t>
            </a:fld>
            <a:endParaRPr lang="en-US" dirty="0"/>
          </a:p>
        </p:txBody>
      </p:sp>
      <p:sp>
        <p:nvSpPr>
          <p:cNvPr id="5" name="Footer Placeholder 4"/>
          <p:cNvSpPr>
            <a:spLocks noGrp="1"/>
          </p:cNvSpPr>
          <p:nvPr>
            <p:ph type="ftr" sz="quarter" idx="3"/>
          </p:nvPr>
        </p:nvSpPr>
        <p:spPr>
          <a:xfrm>
            <a:off x="1451579" y="329307"/>
            <a:ext cx="562677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smtClean="0"/>
              <a:pPr/>
              <a:t>‹#›</a:t>
            </a:fld>
            <a:endParaRPr lang="en-US" dirty="0"/>
          </a:p>
        </p:txBody>
      </p:sp>
      <p:sp>
        <p:nvSpPr>
          <p:cNvPr id="9" name="Rectangle 8"/>
          <p:cNvSpPr/>
          <p:nvPr/>
        </p:nvSpPr>
        <p:spPr>
          <a:xfrm>
            <a:off x="0" y="3622291"/>
            <a:ext cx="12192000" cy="2505984"/>
          </a:xfrm>
          <a:prstGeom prst="rect">
            <a:avLst/>
          </a:prstGeom>
          <a:gradFill flip="none" rotWithShape="1">
            <a:gsLst>
              <a:gs pos="0">
                <a:schemeClr val="bg2">
                  <a:alpha val="0"/>
                </a:schemeClr>
              </a:gs>
              <a:gs pos="100000">
                <a:schemeClr val="bg2">
                  <a:alpha val="8000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a:xfrm>
            <a:off x="0" y="6129338"/>
            <a:ext cx="12192000" cy="742950"/>
          </a:xfrm>
          <a:prstGeom prst="rect">
            <a:avLst/>
          </a:prstGeom>
        </p:spPr>
      </p:pic>
      <p:cxnSp>
        <p:nvCxnSpPr>
          <p:cNvPr id="12" name="Straight Connector 11"/>
          <p:cNvCxnSpPr/>
          <p:nvPr/>
        </p:nvCxnSpPr>
        <p:spPr>
          <a:xfrm>
            <a:off x="0" y="6138142"/>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13635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rtl="0" eaLnBrk="1" latinLnBrk="0" hangingPunct="1">
        <a:lnSpc>
          <a:spcPct val="90000"/>
        </a:lnSpc>
        <a:spcBef>
          <a:spcPct val="0"/>
        </a:spcBef>
        <a:buNone/>
        <a:defRPr sz="3200" b="0" i="0" kern="1200" cap="all">
          <a:solidFill>
            <a:schemeClr val="accent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FC642-11E8-4585-BA99-CBAAA94353DB}"/>
              </a:ext>
            </a:extLst>
          </p:cNvPr>
          <p:cNvSpPr>
            <a:spLocks noGrp="1"/>
          </p:cNvSpPr>
          <p:nvPr>
            <p:ph type="ctrTitle"/>
          </p:nvPr>
        </p:nvSpPr>
        <p:spPr>
          <a:xfrm>
            <a:off x="606021" y="741342"/>
            <a:ext cx="5489977" cy="2920713"/>
          </a:xfrm>
        </p:spPr>
        <p:txBody>
          <a:bodyPr>
            <a:normAutofit/>
          </a:bodyPr>
          <a:lstStyle/>
          <a:p>
            <a:r>
              <a:rPr lang="en-US" sz="5000" dirty="0"/>
              <a:t>Snowblind Fractal</a:t>
            </a:r>
            <a:br>
              <a:rPr lang="en-US" sz="5000" dirty="0"/>
            </a:br>
            <a:r>
              <a:rPr lang="en-US" sz="5000" dirty="0"/>
              <a:t>Scales: </a:t>
            </a:r>
            <a:br>
              <a:rPr lang="en-US" sz="5000" dirty="0"/>
            </a:br>
            <a:r>
              <a:rPr lang="en-US" sz="5000" dirty="0"/>
              <a:t>3, 27, 51, 68, 86, 93</a:t>
            </a:r>
          </a:p>
        </p:txBody>
      </p:sp>
      <p:sp>
        <p:nvSpPr>
          <p:cNvPr id="3" name="Subtitle 2">
            <a:extLst>
              <a:ext uri="{FF2B5EF4-FFF2-40B4-BE49-F238E27FC236}">
                <a16:creationId xmlns:a16="http://schemas.microsoft.com/office/drawing/2014/main" id="{15B51F71-FED8-41A6-A276-AB39959EBEAD}"/>
              </a:ext>
            </a:extLst>
          </p:cNvPr>
          <p:cNvSpPr>
            <a:spLocks noGrp="1"/>
          </p:cNvSpPr>
          <p:nvPr>
            <p:ph type="subTitle" idx="1"/>
          </p:nvPr>
        </p:nvSpPr>
        <p:spPr>
          <a:xfrm>
            <a:off x="10197512" y="5669494"/>
            <a:ext cx="1994488" cy="492156"/>
          </a:xfrm>
        </p:spPr>
        <p:txBody>
          <a:bodyPr/>
          <a:lstStyle/>
          <a:p>
            <a:r>
              <a:rPr lang="en-US" dirty="0"/>
              <a:t>By: Michie.4352</a:t>
            </a:r>
          </a:p>
        </p:txBody>
      </p:sp>
      <p:sp>
        <p:nvSpPr>
          <p:cNvPr id="4" name="TextBox 3">
            <a:extLst>
              <a:ext uri="{FF2B5EF4-FFF2-40B4-BE49-F238E27FC236}">
                <a16:creationId xmlns:a16="http://schemas.microsoft.com/office/drawing/2014/main" id="{77711558-6F3E-446A-86DC-691B4BE87CB2}"/>
              </a:ext>
            </a:extLst>
          </p:cNvPr>
          <p:cNvSpPr txBox="1"/>
          <p:nvPr/>
        </p:nvSpPr>
        <p:spPr>
          <a:xfrm>
            <a:off x="948173" y="4249284"/>
            <a:ext cx="4805675" cy="1323439"/>
          </a:xfrm>
          <a:prstGeom prst="rect">
            <a:avLst/>
          </a:prstGeom>
          <a:noFill/>
        </p:spPr>
        <p:txBody>
          <a:bodyPr wrap="square" rtlCol="0">
            <a:spAutoFit/>
          </a:bodyPr>
          <a:lstStyle/>
          <a:p>
            <a:pPr algn="ctr"/>
            <a:r>
              <a:rPr lang="en-US" sz="4000" dirty="0"/>
              <a:t>Step by Step Guide on What to Expect</a:t>
            </a:r>
          </a:p>
        </p:txBody>
      </p:sp>
      <p:pic>
        <p:nvPicPr>
          <p:cNvPr id="1026" name="Picture 2" descr="Snowblind Fractal - Guild Wars 2 Wiki (GW2W)">
            <a:extLst>
              <a:ext uri="{FF2B5EF4-FFF2-40B4-BE49-F238E27FC236}">
                <a16:creationId xmlns:a16="http://schemas.microsoft.com/office/drawing/2014/main" id="{2CB0FBEF-C33A-43BF-98CA-7101C696BF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2865" y="239646"/>
            <a:ext cx="5233114" cy="5429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9108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12BB-DDF3-44CA-96CA-B305150AB388}"/>
              </a:ext>
            </a:extLst>
          </p:cNvPr>
          <p:cNvSpPr>
            <a:spLocks noGrp="1"/>
          </p:cNvSpPr>
          <p:nvPr>
            <p:ph type="title"/>
          </p:nvPr>
        </p:nvSpPr>
        <p:spPr>
          <a:xfrm>
            <a:off x="1534696" y="216346"/>
            <a:ext cx="9520158" cy="825054"/>
          </a:xfrm>
        </p:spPr>
        <p:txBody>
          <a:bodyPr>
            <a:normAutofit/>
          </a:bodyPr>
          <a:lstStyle/>
          <a:p>
            <a:r>
              <a:rPr lang="en-US" sz="4500" dirty="0"/>
              <a:t>1. Mini Game – Bonfire Pt. 1</a:t>
            </a:r>
          </a:p>
        </p:txBody>
      </p:sp>
      <p:sp>
        <p:nvSpPr>
          <p:cNvPr id="3" name="Content Placeholder 2">
            <a:extLst>
              <a:ext uri="{FF2B5EF4-FFF2-40B4-BE49-F238E27FC236}">
                <a16:creationId xmlns:a16="http://schemas.microsoft.com/office/drawing/2014/main" id="{8581D382-D782-4DFE-98F7-10980DC60570}"/>
              </a:ext>
            </a:extLst>
          </p:cNvPr>
          <p:cNvSpPr>
            <a:spLocks noGrp="1"/>
          </p:cNvSpPr>
          <p:nvPr>
            <p:ph idx="1"/>
          </p:nvPr>
        </p:nvSpPr>
        <p:spPr>
          <a:xfrm>
            <a:off x="6895355" y="2950924"/>
            <a:ext cx="4527617" cy="1677799"/>
          </a:xfrm>
        </p:spPr>
        <p:txBody>
          <a:bodyPr>
            <a:noAutofit/>
          </a:bodyPr>
          <a:lstStyle/>
          <a:p>
            <a:pPr lvl="2"/>
            <a:r>
              <a:rPr lang="en-US" sz="1800" dirty="0"/>
              <a:t>You can check on your mini map where the Ice Elementals will spawn. It will have two swords making an X slowly moving towards the Bonfire!</a:t>
            </a:r>
          </a:p>
        </p:txBody>
      </p:sp>
      <p:sp>
        <p:nvSpPr>
          <p:cNvPr id="4" name="Rectangle 3">
            <a:extLst>
              <a:ext uri="{FF2B5EF4-FFF2-40B4-BE49-F238E27FC236}">
                <a16:creationId xmlns:a16="http://schemas.microsoft.com/office/drawing/2014/main" id="{6EFDF2AF-53E2-4D9D-8927-C4A6AABD4F30}"/>
              </a:ext>
            </a:extLst>
          </p:cNvPr>
          <p:cNvSpPr/>
          <p:nvPr/>
        </p:nvSpPr>
        <p:spPr>
          <a:xfrm>
            <a:off x="254000" y="1041400"/>
            <a:ext cx="6831877" cy="1200329"/>
          </a:xfrm>
          <a:prstGeom prst="rect">
            <a:avLst/>
          </a:prstGeom>
        </p:spPr>
        <p:txBody>
          <a:bodyPr wrap="square">
            <a:spAutoFit/>
          </a:bodyPr>
          <a:lstStyle/>
          <a:p>
            <a:pPr marL="285750" indent="-285750">
              <a:buFont typeface="Arial" panose="020B0604020202020204" pitchFamily="34" charset="0"/>
              <a:buChar char="•"/>
            </a:pPr>
            <a:r>
              <a:rPr lang="en-US" dirty="0"/>
              <a:t>You’ll start inside of an Ice Cave, inside a bonfire. To start the mini game, you’ll have to run to the other bonfire outside of the cave and light it up using your special action key that pops up when you get close to the Bonfire</a:t>
            </a:r>
          </a:p>
        </p:txBody>
      </p:sp>
      <p:pic>
        <p:nvPicPr>
          <p:cNvPr id="2050" name="Picture 2" descr="Snowblind_fractal_guide (1) - Guild Wars 2 Life">
            <a:extLst>
              <a:ext uri="{FF2B5EF4-FFF2-40B4-BE49-F238E27FC236}">
                <a16:creationId xmlns:a16="http://schemas.microsoft.com/office/drawing/2014/main" id="{887A42B0-D1C5-46EC-B676-7686398D65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243" t="24610" r="27191" b="53027"/>
          <a:stretch/>
        </p:blipFill>
        <p:spPr bwMode="auto">
          <a:xfrm>
            <a:off x="7085877" y="949311"/>
            <a:ext cx="4608377" cy="141356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GW2 - Snowblind Fractal Guide - GuildJen">
            <a:extLst>
              <a:ext uri="{FF2B5EF4-FFF2-40B4-BE49-F238E27FC236}">
                <a16:creationId xmlns:a16="http://schemas.microsoft.com/office/drawing/2014/main" id="{9133D88F-6C0C-45BB-869B-3C65B3AE357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4577"/>
          <a:stretch/>
        </p:blipFill>
        <p:spPr bwMode="auto">
          <a:xfrm>
            <a:off x="967217" y="4162242"/>
            <a:ext cx="3024158" cy="197849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492B0373-A7E2-499B-86E4-72C874B1F84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1191" t="32486" r="30967"/>
          <a:stretch/>
        </p:blipFill>
        <p:spPr bwMode="auto">
          <a:xfrm>
            <a:off x="5447338" y="4016074"/>
            <a:ext cx="1953250" cy="208340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GW2 - Fractal 5 - YouTube">
            <a:extLst>
              <a:ext uri="{FF2B5EF4-FFF2-40B4-BE49-F238E27FC236}">
                <a16:creationId xmlns:a16="http://schemas.microsoft.com/office/drawing/2014/main" id="{C20B50A9-19EA-4F46-B763-63EE7F6194B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1320" t="80634" r="48163" b="10680"/>
          <a:stretch/>
        </p:blipFill>
        <p:spPr bwMode="auto">
          <a:xfrm>
            <a:off x="5217258" y="1947924"/>
            <a:ext cx="830510" cy="38589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F615BC3-D9A6-4D71-B134-7B4B1A2E772E}"/>
              </a:ext>
            </a:extLst>
          </p:cNvPr>
          <p:cNvPicPr>
            <a:picLocks noChangeAspect="1"/>
          </p:cNvPicPr>
          <p:nvPr/>
        </p:nvPicPr>
        <p:blipFill>
          <a:blip r:embed="rId6"/>
          <a:stretch>
            <a:fillRect/>
          </a:stretch>
        </p:blipFill>
        <p:spPr>
          <a:xfrm>
            <a:off x="8793068" y="4603943"/>
            <a:ext cx="1679411" cy="1495534"/>
          </a:xfrm>
          <a:prstGeom prst="rect">
            <a:avLst/>
          </a:prstGeom>
        </p:spPr>
      </p:pic>
      <p:sp>
        <p:nvSpPr>
          <p:cNvPr id="13" name="TextBox 12">
            <a:extLst>
              <a:ext uri="{FF2B5EF4-FFF2-40B4-BE49-F238E27FC236}">
                <a16:creationId xmlns:a16="http://schemas.microsoft.com/office/drawing/2014/main" id="{3F2CC791-CAD8-43EF-8975-C0673A478FA2}"/>
              </a:ext>
            </a:extLst>
          </p:cNvPr>
          <p:cNvSpPr txBox="1"/>
          <p:nvPr/>
        </p:nvSpPr>
        <p:spPr>
          <a:xfrm>
            <a:off x="1263697" y="2607774"/>
            <a:ext cx="9208782" cy="369332"/>
          </a:xfrm>
          <a:prstGeom prst="rect">
            <a:avLst/>
          </a:prstGeom>
          <a:noFill/>
        </p:spPr>
        <p:txBody>
          <a:bodyPr wrap="square">
            <a:spAutoFit/>
          </a:bodyPr>
          <a:lstStyle/>
          <a:p>
            <a:r>
              <a:rPr lang="en-US" sz="1800" dirty="0"/>
              <a:t>When you light up the bonfire, that’s when adds and Firewood will pop up everywhere</a:t>
            </a:r>
            <a:endParaRPr lang="en-US" sz="1600" dirty="0"/>
          </a:p>
        </p:txBody>
      </p:sp>
      <p:sp>
        <p:nvSpPr>
          <p:cNvPr id="15" name="TextBox 14">
            <a:extLst>
              <a:ext uri="{FF2B5EF4-FFF2-40B4-BE49-F238E27FC236}">
                <a16:creationId xmlns:a16="http://schemas.microsoft.com/office/drawing/2014/main" id="{2AE0B528-CC43-4C20-964A-219B8354AC8B}"/>
              </a:ext>
            </a:extLst>
          </p:cNvPr>
          <p:cNvSpPr txBox="1"/>
          <p:nvPr/>
        </p:nvSpPr>
        <p:spPr>
          <a:xfrm>
            <a:off x="4352817" y="2956467"/>
            <a:ext cx="3486366" cy="923330"/>
          </a:xfrm>
          <a:prstGeom prst="rect">
            <a:avLst/>
          </a:prstGeom>
          <a:noFill/>
        </p:spPr>
        <p:txBody>
          <a:bodyPr wrap="square">
            <a:spAutoFit/>
          </a:bodyPr>
          <a:lstStyle/>
          <a:p>
            <a:pPr marL="742950" lvl="1" indent="-285750">
              <a:buFont typeface="Arial" panose="020B0604020202020204" pitchFamily="34" charset="0"/>
              <a:buChar char="•"/>
            </a:pPr>
            <a:r>
              <a:rPr lang="en-US" sz="1800" dirty="0"/>
              <a:t>Collect Firewood and throw them into the Bonfire to keep it lit up! </a:t>
            </a:r>
          </a:p>
        </p:txBody>
      </p:sp>
      <p:sp>
        <p:nvSpPr>
          <p:cNvPr id="17" name="TextBox 16">
            <a:extLst>
              <a:ext uri="{FF2B5EF4-FFF2-40B4-BE49-F238E27FC236}">
                <a16:creationId xmlns:a16="http://schemas.microsoft.com/office/drawing/2014/main" id="{0D9BA008-3C69-414B-8EEE-1244CA8D523E}"/>
              </a:ext>
            </a:extLst>
          </p:cNvPr>
          <p:cNvSpPr txBox="1"/>
          <p:nvPr/>
        </p:nvSpPr>
        <p:spPr>
          <a:xfrm>
            <a:off x="-191548" y="2961913"/>
            <a:ext cx="5020711" cy="1200329"/>
          </a:xfrm>
          <a:prstGeom prst="rect">
            <a:avLst/>
          </a:prstGeom>
          <a:noFill/>
        </p:spPr>
        <p:txBody>
          <a:bodyPr wrap="square">
            <a:spAutoFit/>
          </a:bodyPr>
          <a:lstStyle/>
          <a:p>
            <a:pPr marL="742950" lvl="1" indent="-285750">
              <a:buFont typeface="Arial" panose="020B0604020202020204" pitchFamily="34" charset="0"/>
              <a:buChar char="•"/>
            </a:pPr>
            <a:r>
              <a:rPr lang="en-US" sz="1800" dirty="0"/>
              <a:t>Kill the Adds that pops up, Especially the Ice Elementals – Do not let it touch the Bonfire! Otherwise, the Elementals will melt and blow out the fire.</a:t>
            </a:r>
          </a:p>
        </p:txBody>
      </p:sp>
    </p:spTree>
    <p:extLst>
      <p:ext uri="{BB962C8B-B14F-4D97-AF65-F5344CB8AC3E}">
        <p14:creationId xmlns:p14="http://schemas.microsoft.com/office/powerpoint/2010/main" val="17939384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A8ED4-3575-4D66-95DB-C4A3CF4F1652}"/>
              </a:ext>
            </a:extLst>
          </p:cNvPr>
          <p:cNvSpPr>
            <a:spLocks noGrp="1"/>
          </p:cNvSpPr>
          <p:nvPr>
            <p:ph type="title"/>
          </p:nvPr>
        </p:nvSpPr>
        <p:spPr>
          <a:xfrm>
            <a:off x="1450392" y="546261"/>
            <a:ext cx="9291215" cy="1049235"/>
          </a:xfrm>
        </p:spPr>
        <p:txBody>
          <a:bodyPr>
            <a:normAutofit/>
          </a:bodyPr>
          <a:lstStyle/>
          <a:p>
            <a:r>
              <a:rPr lang="en-US" sz="4500" dirty="0"/>
              <a:t>2. Mini Game – Bonfire Pt. 2</a:t>
            </a:r>
          </a:p>
        </p:txBody>
      </p:sp>
      <p:sp>
        <p:nvSpPr>
          <p:cNvPr id="3" name="Content Placeholder 2">
            <a:extLst>
              <a:ext uri="{FF2B5EF4-FFF2-40B4-BE49-F238E27FC236}">
                <a16:creationId xmlns:a16="http://schemas.microsoft.com/office/drawing/2014/main" id="{B7BBE88B-2DD9-4ED9-AC82-1AF370B5F0A6}"/>
              </a:ext>
            </a:extLst>
          </p:cNvPr>
          <p:cNvSpPr>
            <a:spLocks noGrp="1"/>
          </p:cNvSpPr>
          <p:nvPr>
            <p:ph idx="1"/>
          </p:nvPr>
        </p:nvSpPr>
        <p:spPr>
          <a:xfrm>
            <a:off x="612413" y="3812398"/>
            <a:ext cx="10654002" cy="1604989"/>
          </a:xfrm>
        </p:spPr>
        <p:txBody>
          <a:bodyPr>
            <a:normAutofit/>
          </a:bodyPr>
          <a:lstStyle/>
          <a:p>
            <a:r>
              <a:rPr lang="en-US" sz="1800" dirty="0"/>
              <a:t>Best Strat: Grab a firewood, run back into the bonfire’s AOE and interact to drop the firewood. When you see the Ice Elemental, you will focus on killing it as fast as possible</a:t>
            </a:r>
          </a:p>
          <a:p>
            <a:r>
              <a:rPr lang="en-US" sz="1800" dirty="0"/>
              <a:t>Note: As you go higher in Tier, the Faster the Elementals come out and the faster it runs towards the Bonfire! Use knockbacks, stuns, any CC you have to slow it down!</a:t>
            </a:r>
          </a:p>
        </p:txBody>
      </p:sp>
      <p:pic>
        <p:nvPicPr>
          <p:cNvPr id="6" name="Picture 4">
            <a:extLst>
              <a:ext uri="{FF2B5EF4-FFF2-40B4-BE49-F238E27FC236}">
                <a16:creationId xmlns:a16="http://schemas.microsoft.com/office/drawing/2014/main" id="{B27BF029-FAAE-4853-BC8C-BDCFA85DE4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0889" y="1948138"/>
            <a:ext cx="2098832" cy="694102"/>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5176C42-5012-4A6C-99FB-47A5AF252A88}"/>
              </a:ext>
            </a:extLst>
          </p:cNvPr>
          <p:cNvSpPr txBox="1"/>
          <p:nvPr/>
        </p:nvSpPr>
        <p:spPr>
          <a:xfrm>
            <a:off x="612413" y="1865707"/>
            <a:ext cx="8030362" cy="923330"/>
          </a:xfrm>
          <a:prstGeom prst="rect">
            <a:avLst/>
          </a:prstGeom>
          <a:noFill/>
        </p:spPr>
        <p:txBody>
          <a:bodyPr wrap="square">
            <a:spAutoFit/>
          </a:bodyPr>
          <a:lstStyle/>
          <a:p>
            <a:pPr marL="285750" indent="-285750">
              <a:buFont typeface="Arial" panose="020B0604020202020204" pitchFamily="34" charset="0"/>
              <a:buChar char="•"/>
            </a:pPr>
            <a:r>
              <a:rPr lang="en-US" sz="1800" dirty="0"/>
              <a:t>You can look at the top right corner of your screen to know how many more Ice Elementals you need to kill and if the Bonfire need more firewood.</a:t>
            </a:r>
          </a:p>
        </p:txBody>
      </p:sp>
      <p:pic>
        <p:nvPicPr>
          <p:cNvPr id="7" name="Picture 6">
            <a:extLst>
              <a:ext uri="{FF2B5EF4-FFF2-40B4-BE49-F238E27FC236}">
                <a16:creationId xmlns:a16="http://schemas.microsoft.com/office/drawing/2014/main" id="{E293D0DB-27D3-4DF6-B18A-5BD531B9C83F}"/>
              </a:ext>
            </a:extLst>
          </p:cNvPr>
          <p:cNvPicPr>
            <a:picLocks noChangeAspect="1"/>
          </p:cNvPicPr>
          <p:nvPr/>
        </p:nvPicPr>
        <p:blipFill>
          <a:blip r:embed="rId3"/>
          <a:stretch>
            <a:fillRect/>
          </a:stretch>
        </p:blipFill>
        <p:spPr>
          <a:xfrm>
            <a:off x="9834103" y="2912451"/>
            <a:ext cx="582817" cy="552929"/>
          </a:xfrm>
          <a:prstGeom prst="rect">
            <a:avLst/>
          </a:prstGeom>
        </p:spPr>
      </p:pic>
      <p:sp>
        <p:nvSpPr>
          <p:cNvPr id="12" name="TextBox 11">
            <a:extLst>
              <a:ext uri="{FF2B5EF4-FFF2-40B4-BE49-F238E27FC236}">
                <a16:creationId xmlns:a16="http://schemas.microsoft.com/office/drawing/2014/main" id="{A29EFA68-AAD2-46FA-BD9E-2ED8828D61A1}"/>
              </a:ext>
            </a:extLst>
          </p:cNvPr>
          <p:cNvSpPr txBox="1"/>
          <p:nvPr/>
        </p:nvSpPr>
        <p:spPr>
          <a:xfrm>
            <a:off x="612413" y="2912451"/>
            <a:ext cx="8598699" cy="615553"/>
          </a:xfrm>
          <a:prstGeom prst="rect">
            <a:avLst/>
          </a:prstGeom>
          <a:noFill/>
        </p:spPr>
        <p:txBody>
          <a:bodyPr wrap="square">
            <a:spAutoFit/>
          </a:bodyPr>
          <a:lstStyle/>
          <a:p>
            <a:pPr marL="285750" indent="-285750">
              <a:buFont typeface="Arial" panose="020B0604020202020204" pitchFamily="34" charset="0"/>
              <a:buChar char="•"/>
            </a:pPr>
            <a:r>
              <a:rPr lang="en-US" sz="1800" dirty="0"/>
              <a:t>Once you are out of the Bonfire’s AOE, you will gain a Hypothermia </a:t>
            </a:r>
            <a:r>
              <a:rPr lang="en-US" sz="1800" dirty="0" err="1"/>
              <a:t>debuff</a:t>
            </a:r>
            <a:endParaRPr lang="en-US" sz="1800" dirty="0"/>
          </a:p>
          <a:p>
            <a:pPr marL="742950" lvl="1" indent="-285750">
              <a:buFont typeface="Arial" panose="020B0604020202020204" pitchFamily="34" charset="0"/>
              <a:buChar char="•"/>
            </a:pPr>
            <a:r>
              <a:rPr lang="en-US" sz="1600" dirty="0"/>
              <a:t> If it continues to stack (1 stack every 5 seconds), you will start walking super slow.</a:t>
            </a:r>
          </a:p>
        </p:txBody>
      </p:sp>
    </p:spTree>
    <p:extLst>
      <p:ext uri="{BB962C8B-B14F-4D97-AF65-F5344CB8AC3E}">
        <p14:creationId xmlns:p14="http://schemas.microsoft.com/office/powerpoint/2010/main" val="37274728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785F5-595C-413C-837E-F84391BF652D}"/>
              </a:ext>
            </a:extLst>
          </p:cNvPr>
          <p:cNvSpPr>
            <a:spLocks noGrp="1"/>
          </p:cNvSpPr>
          <p:nvPr>
            <p:ph type="title"/>
          </p:nvPr>
        </p:nvSpPr>
        <p:spPr>
          <a:xfrm>
            <a:off x="1450392" y="200016"/>
            <a:ext cx="9291215" cy="1049235"/>
          </a:xfrm>
        </p:spPr>
        <p:txBody>
          <a:bodyPr/>
          <a:lstStyle/>
          <a:p>
            <a:r>
              <a:rPr lang="en-US" dirty="0"/>
              <a:t>3. Mini Game/Boss: Elemental Source</a:t>
            </a:r>
          </a:p>
        </p:txBody>
      </p:sp>
      <p:sp>
        <p:nvSpPr>
          <p:cNvPr id="3" name="Content Placeholder 2">
            <a:extLst>
              <a:ext uri="{FF2B5EF4-FFF2-40B4-BE49-F238E27FC236}">
                <a16:creationId xmlns:a16="http://schemas.microsoft.com/office/drawing/2014/main" id="{388AF30B-15F5-46BA-B3D4-4D788F191214}"/>
              </a:ext>
            </a:extLst>
          </p:cNvPr>
          <p:cNvSpPr>
            <a:spLocks noGrp="1"/>
          </p:cNvSpPr>
          <p:nvPr>
            <p:ph idx="1"/>
          </p:nvPr>
        </p:nvSpPr>
        <p:spPr>
          <a:xfrm>
            <a:off x="309483" y="1249251"/>
            <a:ext cx="7033679" cy="4713667"/>
          </a:xfrm>
        </p:spPr>
        <p:txBody>
          <a:bodyPr>
            <a:normAutofit lnSpcReduction="10000"/>
          </a:bodyPr>
          <a:lstStyle/>
          <a:p>
            <a:r>
              <a:rPr lang="en-US" dirty="0"/>
              <a:t>Main Goal: Destroy the Elemental Core in the middle of the Village while keeping the 5 bonfires around the Core lit up as long as possible</a:t>
            </a:r>
          </a:p>
          <a:p>
            <a:pPr lvl="1"/>
            <a:r>
              <a:rPr lang="en-US" dirty="0"/>
              <a:t>How? </a:t>
            </a:r>
          </a:p>
          <a:p>
            <a:pPr lvl="2"/>
            <a:r>
              <a:rPr lang="en-US" dirty="0"/>
              <a:t>Keep 1-2 Bonfires lit up with Firewood at all times – You will need 1-2 players (Ranged Classes) to focus on keeping the bonfire up while the rest of the party destroys that Source</a:t>
            </a:r>
          </a:p>
          <a:p>
            <a:pPr lvl="2"/>
            <a:r>
              <a:rPr lang="en-US" dirty="0"/>
              <a:t>Revenant with Bubble in Centaur Stance – A little Cheat </a:t>
            </a:r>
            <a:r>
              <a:rPr lang="en-US" dirty="0">
                <a:sym typeface="Wingdings" panose="05000000000000000000" pitchFamily="2" charset="2"/>
              </a:rPr>
              <a:t> Place the Bubble on top of the source so the ice projectiles that comes out of the Source won’t hit the bonfires! Those projectiles come out every 25%</a:t>
            </a:r>
          </a:p>
          <a:p>
            <a:r>
              <a:rPr lang="en-US" dirty="0">
                <a:sym typeface="Wingdings" panose="05000000000000000000" pitchFamily="2" charset="2"/>
              </a:rPr>
              <a:t>Note: If you have all of the Bonfires blown out, you will get randomly teleported to a corner of the village with the </a:t>
            </a:r>
            <a:r>
              <a:rPr lang="en-US" dirty="0" err="1">
                <a:sym typeface="Wingdings" panose="05000000000000000000" pitchFamily="2" charset="2"/>
              </a:rPr>
              <a:t>debuff</a:t>
            </a:r>
            <a:r>
              <a:rPr lang="en-US" dirty="0">
                <a:sym typeface="Wingdings" panose="05000000000000000000" pitchFamily="2" charset="2"/>
              </a:rPr>
              <a:t> in effect.</a:t>
            </a:r>
            <a:endParaRPr lang="en-US" dirty="0"/>
          </a:p>
        </p:txBody>
      </p:sp>
      <p:pic>
        <p:nvPicPr>
          <p:cNvPr id="4" name="Picture 2" descr="GW2 - Fractal 5 - YouTube">
            <a:extLst>
              <a:ext uri="{FF2B5EF4-FFF2-40B4-BE49-F238E27FC236}">
                <a16:creationId xmlns:a16="http://schemas.microsoft.com/office/drawing/2014/main" id="{ADACCCE3-2C51-4D87-BD30-EE0F9088044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472" t="20072" r="23677" b="18227"/>
          <a:stretch/>
        </p:blipFill>
        <p:spPr bwMode="auto">
          <a:xfrm>
            <a:off x="7343162" y="3323299"/>
            <a:ext cx="4647501" cy="2740836"/>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3D3AECA5-20CB-43BE-AC80-1E09E875219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466" t="1" r="24428" b="53149"/>
          <a:stretch/>
        </p:blipFill>
        <p:spPr bwMode="auto">
          <a:xfrm>
            <a:off x="8249174" y="1037007"/>
            <a:ext cx="2835479" cy="2286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24763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CAE3A-476E-4BE6-9BEA-705E3D69729C}"/>
              </a:ext>
            </a:extLst>
          </p:cNvPr>
          <p:cNvSpPr>
            <a:spLocks noGrp="1"/>
          </p:cNvSpPr>
          <p:nvPr>
            <p:ph type="title"/>
          </p:nvPr>
        </p:nvSpPr>
        <p:spPr>
          <a:xfrm>
            <a:off x="1450392" y="564429"/>
            <a:ext cx="9291215" cy="1049235"/>
          </a:xfrm>
        </p:spPr>
        <p:txBody>
          <a:bodyPr/>
          <a:lstStyle/>
          <a:p>
            <a:r>
              <a:rPr lang="en-US" dirty="0"/>
              <a:t>4. Mini-Game: Forest Run through</a:t>
            </a:r>
          </a:p>
        </p:txBody>
      </p:sp>
      <p:sp>
        <p:nvSpPr>
          <p:cNvPr id="3" name="Content Placeholder 2">
            <a:extLst>
              <a:ext uri="{FF2B5EF4-FFF2-40B4-BE49-F238E27FC236}">
                <a16:creationId xmlns:a16="http://schemas.microsoft.com/office/drawing/2014/main" id="{480AC350-0B44-4193-8BB8-D3CD9576E3DF}"/>
              </a:ext>
            </a:extLst>
          </p:cNvPr>
          <p:cNvSpPr>
            <a:spLocks noGrp="1"/>
          </p:cNvSpPr>
          <p:nvPr>
            <p:ph idx="1"/>
          </p:nvPr>
        </p:nvSpPr>
        <p:spPr>
          <a:xfrm>
            <a:off x="6195329" y="1848307"/>
            <a:ext cx="5256394" cy="3142949"/>
          </a:xfrm>
        </p:spPr>
        <p:txBody>
          <a:bodyPr>
            <a:normAutofit fontScale="92500"/>
          </a:bodyPr>
          <a:lstStyle/>
          <a:p>
            <a:r>
              <a:rPr lang="en-US" dirty="0"/>
              <a:t>Main Goal: Avoid all of the Adds trying to kill you and run as fast as possible to the end of the forest</a:t>
            </a:r>
          </a:p>
          <a:p>
            <a:pPr lvl="1"/>
            <a:r>
              <a:rPr lang="en-US" dirty="0"/>
              <a:t>How? -  There are Fire sticks on the ground that are lit up. Follow the fire to the end! Once one player gets to the end, you will see “Kill the Son of </a:t>
            </a:r>
            <a:r>
              <a:rPr lang="en-US" dirty="0" err="1"/>
              <a:t>Svanir</a:t>
            </a:r>
            <a:r>
              <a:rPr lang="en-US" dirty="0"/>
              <a:t> Shaman” pop up on the middle of your screen. That means you can type “/gg” to teleport to the end!</a:t>
            </a:r>
          </a:p>
        </p:txBody>
      </p:sp>
      <p:pic>
        <p:nvPicPr>
          <p:cNvPr id="5" name="Picture 4">
            <a:extLst>
              <a:ext uri="{FF2B5EF4-FFF2-40B4-BE49-F238E27FC236}">
                <a16:creationId xmlns:a16="http://schemas.microsoft.com/office/drawing/2014/main" id="{D96AD4C2-5A52-4FC1-BCA8-87012CF0AF31}"/>
              </a:ext>
            </a:extLst>
          </p:cNvPr>
          <p:cNvPicPr>
            <a:picLocks noChangeAspect="1"/>
          </p:cNvPicPr>
          <p:nvPr/>
        </p:nvPicPr>
        <p:blipFill>
          <a:blip r:embed="rId2"/>
          <a:stretch>
            <a:fillRect/>
          </a:stretch>
        </p:blipFill>
        <p:spPr>
          <a:xfrm>
            <a:off x="899180" y="2213034"/>
            <a:ext cx="4943475" cy="2981325"/>
          </a:xfrm>
          <a:prstGeom prst="rect">
            <a:avLst/>
          </a:prstGeom>
        </p:spPr>
      </p:pic>
      <p:sp>
        <p:nvSpPr>
          <p:cNvPr id="6" name="TextBox 5">
            <a:extLst>
              <a:ext uri="{FF2B5EF4-FFF2-40B4-BE49-F238E27FC236}">
                <a16:creationId xmlns:a16="http://schemas.microsoft.com/office/drawing/2014/main" id="{FAA16726-F8F5-44C1-8C43-8DD9CEF6A5E0}"/>
              </a:ext>
            </a:extLst>
          </p:cNvPr>
          <p:cNvSpPr txBox="1"/>
          <p:nvPr/>
        </p:nvSpPr>
        <p:spPr>
          <a:xfrm>
            <a:off x="2046914" y="1837934"/>
            <a:ext cx="2508308" cy="369332"/>
          </a:xfrm>
          <a:prstGeom prst="rect">
            <a:avLst/>
          </a:prstGeom>
          <a:noFill/>
        </p:spPr>
        <p:txBody>
          <a:bodyPr wrap="square" rtlCol="0">
            <a:spAutoFit/>
          </a:bodyPr>
          <a:lstStyle/>
          <a:p>
            <a:r>
              <a:rPr lang="en-US" dirty="0"/>
              <a:t>FOLLOW THE LIGHT!</a:t>
            </a:r>
          </a:p>
        </p:txBody>
      </p:sp>
      <p:pic>
        <p:nvPicPr>
          <p:cNvPr id="8" name="Picture 7">
            <a:extLst>
              <a:ext uri="{FF2B5EF4-FFF2-40B4-BE49-F238E27FC236}">
                <a16:creationId xmlns:a16="http://schemas.microsoft.com/office/drawing/2014/main" id="{07F55C21-0E31-4E5E-909E-E9D80E2B23B5}"/>
              </a:ext>
            </a:extLst>
          </p:cNvPr>
          <p:cNvPicPr>
            <a:picLocks noChangeAspect="1"/>
          </p:cNvPicPr>
          <p:nvPr/>
        </p:nvPicPr>
        <p:blipFill>
          <a:blip r:embed="rId3"/>
          <a:stretch>
            <a:fillRect/>
          </a:stretch>
        </p:blipFill>
        <p:spPr>
          <a:xfrm>
            <a:off x="7453749" y="5064275"/>
            <a:ext cx="2905125" cy="457200"/>
          </a:xfrm>
          <a:prstGeom prst="rect">
            <a:avLst/>
          </a:prstGeom>
        </p:spPr>
      </p:pic>
    </p:spTree>
    <p:extLst>
      <p:ext uri="{BB962C8B-B14F-4D97-AF65-F5344CB8AC3E}">
        <p14:creationId xmlns:p14="http://schemas.microsoft.com/office/powerpoint/2010/main" val="2773225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4000"/>
                <a:satMod val="80000"/>
                <a:lumMod val="106000"/>
              </a:schemeClr>
            </a:gs>
            <a:gs pos="100000">
              <a:schemeClr val="bg1">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D7B24-EBC6-41CC-BEC3-6A8A617DBABD}"/>
              </a:ext>
            </a:extLst>
          </p:cNvPr>
          <p:cNvSpPr>
            <a:spLocks noGrp="1"/>
          </p:cNvSpPr>
          <p:nvPr>
            <p:ph type="title"/>
          </p:nvPr>
        </p:nvSpPr>
        <p:spPr>
          <a:xfrm>
            <a:off x="1450392" y="578292"/>
            <a:ext cx="9291215" cy="1049235"/>
          </a:xfrm>
        </p:spPr>
        <p:txBody>
          <a:bodyPr>
            <a:normAutofit/>
          </a:bodyPr>
          <a:lstStyle/>
          <a:p>
            <a:r>
              <a:rPr lang="en-US" dirty="0"/>
              <a:t>5. Final Boss: Legendary Shaman </a:t>
            </a:r>
            <a:r>
              <a:rPr lang="en-US" dirty="0" err="1"/>
              <a:t>Lornarr</a:t>
            </a:r>
            <a:r>
              <a:rPr lang="en-US" dirty="0"/>
              <a:t> </a:t>
            </a:r>
            <a:r>
              <a:rPr lang="en-US" dirty="0" err="1"/>
              <a:t>Dragonseeker</a:t>
            </a:r>
            <a:r>
              <a:rPr lang="en-US" dirty="0"/>
              <a:t> Pt. 1</a:t>
            </a:r>
          </a:p>
        </p:txBody>
      </p:sp>
      <p:pic>
        <p:nvPicPr>
          <p:cNvPr id="6146" name="Picture 2" descr="Guild Wars 2 Snowblind Fractal T4 - YouTube">
            <a:extLst>
              <a:ext uri="{FF2B5EF4-FFF2-40B4-BE49-F238E27FC236}">
                <a16:creationId xmlns:a16="http://schemas.microsoft.com/office/drawing/2014/main" id="{A018D56E-E508-4B55-B8B5-B4788ED3BC8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868" t="29357" r="59649" b="52797"/>
          <a:stretch/>
        </p:blipFill>
        <p:spPr bwMode="auto">
          <a:xfrm>
            <a:off x="8774123" y="2379765"/>
            <a:ext cx="1304755" cy="104923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5E2079C-C9BD-4CDA-ADA1-8671643E1D68}"/>
              </a:ext>
            </a:extLst>
          </p:cNvPr>
          <p:cNvPicPr>
            <a:picLocks noChangeAspect="1"/>
          </p:cNvPicPr>
          <p:nvPr/>
        </p:nvPicPr>
        <p:blipFill rotWithShape="1">
          <a:blip r:embed="rId3"/>
          <a:srcRect l="12442"/>
          <a:stretch/>
        </p:blipFill>
        <p:spPr>
          <a:xfrm>
            <a:off x="1183159" y="3572227"/>
            <a:ext cx="4028316" cy="1722104"/>
          </a:xfrm>
          <a:prstGeom prst="rect">
            <a:avLst/>
          </a:prstGeom>
        </p:spPr>
      </p:pic>
      <p:sp>
        <p:nvSpPr>
          <p:cNvPr id="3" name="Content Placeholder 2">
            <a:extLst>
              <a:ext uri="{FF2B5EF4-FFF2-40B4-BE49-F238E27FC236}">
                <a16:creationId xmlns:a16="http://schemas.microsoft.com/office/drawing/2014/main" id="{DB88C736-BE72-466C-83AB-E415878A2962}"/>
              </a:ext>
            </a:extLst>
          </p:cNvPr>
          <p:cNvSpPr>
            <a:spLocks noGrp="1"/>
          </p:cNvSpPr>
          <p:nvPr>
            <p:ph idx="1"/>
          </p:nvPr>
        </p:nvSpPr>
        <p:spPr>
          <a:xfrm>
            <a:off x="805654" y="1923735"/>
            <a:ext cx="6860528" cy="425462"/>
          </a:xfrm>
        </p:spPr>
        <p:txBody>
          <a:bodyPr>
            <a:normAutofit/>
          </a:bodyPr>
          <a:lstStyle/>
          <a:p>
            <a:pPr>
              <a:lnSpc>
                <a:spcPct val="110000"/>
              </a:lnSpc>
            </a:pPr>
            <a:r>
              <a:rPr lang="en-US" sz="1800" dirty="0"/>
              <a:t>Many Mechanics to look out for: </a:t>
            </a:r>
          </a:p>
        </p:txBody>
      </p:sp>
      <p:sp>
        <p:nvSpPr>
          <p:cNvPr id="8" name="TextBox 7">
            <a:extLst>
              <a:ext uri="{FF2B5EF4-FFF2-40B4-BE49-F238E27FC236}">
                <a16:creationId xmlns:a16="http://schemas.microsoft.com/office/drawing/2014/main" id="{FC14AE04-8C37-44BE-8B1E-5159FFF2A901}"/>
              </a:ext>
            </a:extLst>
          </p:cNvPr>
          <p:cNvSpPr txBox="1"/>
          <p:nvPr/>
        </p:nvSpPr>
        <p:spPr>
          <a:xfrm>
            <a:off x="354005" y="2461857"/>
            <a:ext cx="7915260" cy="885050"/>
          </a:xfrm>
          <a:prstGeom prst="rect">
            <a:avLst/>
          </a:prstGeom>
          <a:noFill/>
        </p:spPr>
        <p:txBody>
          <a:bodyPr wrap="square">
            <a:spAutoFit/>
          </a:bodyPr>
          <a:lstStyle/>
          <a:p>
            <a:pPr marL="742950" lvl="1" indent="-285750">
              <a:lnSpc>
                <a:spcPct val="110000"/>
              </a:lnSpc>
              <a:buFont typeface="Arial" panose="020B0604020202020204" pitchFamily="34" charset="0"/>
              <a:buChar char="•"/>
            </a:pPr>
            <a:r>
              <a:rPr lang="en-US" sz="1600" dirty="0"/>
              <a:t>Three Corrupted Ice Crystals at the Corners – These crystals shoot out ice projectiles just like the Elemental Source. Destroy those Crystals! It will take the shield buff off the Boss that reduces incoming damage.</a:t>
            </a:r>
          </a:p>
        </p:txBody>
      </p:sp>
      <p:sp>
        <p:nvSpPr>
          <p:cNvPr id="10" name="TextBox 9">
            <a:extLst>
              <a:ext uri="{FF2B5EF4-FFF2-40B4-BE49-F238E27FC236}">
                <a16:creationId xmlns:a16="http://schemas.microsoft.com/office/drawing/2014/main" id="{BB20FF8C-8EF0-45E1-9EDB-9B37740C33A6}"/>
              </a:ext>
            </a:extLst>
          </p:cNvPr>
          <p:cNvSpPr txBox="1"/>
          <p:nvPr/>
        </p:nvSpPr>
        <p:spPr>
          <a:xfrm>
            <a:off x="4705022" y="3788839"/>
            <a:ext cx="6586560" cy="1288879"/>
          </a:xfrm>
          <a:prstGeom prst="rect">
            <a:avLst/>
          </a:prstGeom>
          <a:noFill/>
        </p:spPr>
        <p:txBody>
          <a:bodyPr wrap="square">
            <a:spAutoFit/>
          </a:bodyPr>
          <a:lstStyle/>
          <a:p>
            <a:pPr marL="742950" lvl="1" indent="-285750">
              <a:lnSpc>
                <a:spcPct val="110000"/>
              </a:lnSpc>
              <a:buFont typeface="Arial" panose="020B0604020202020204" pitchFamily="34" charset="0"/>
              <a:buChar char="•"/>
            </a:pPr>
            <a:r>
              <a:rPr lang="en-US" sz="1800" dirty="0"/>
              <a:t>Multiple Red AOE’s that Causes Chilled – Avoid getting hit otherwise you will have a </a:t>
            </a:r>
            <a:r>
              <a:rPr lang="en-US" sz="1800" dirty="0" err="1"/>
              <a:t>debuff</a:t>
            </a:r>
            <a:r>
              <a:rPr lang="en-US" sz="1800" dirty="0"/>
              <a:t> stack. If you get up to 10 Stacks, you will be Frozen in place and become vulnerable to any of the Boss’s Attacks</a:t>
            </a:r>
          </a:p>
        </p:txBody>
      </p:sp>
    </p:spTree>
    <p:extLst>
      <p:ext uri="{BB962C8B-B14F-4D97-AF65-F5344CB8AC3E}">
        <p14:creationId xmlns:p14="http://schemas.microsoft.com/office/powerpoint/2010/main" val="2835366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CA469-69E1-461B-AB9B-179D8F1B7949}"/>
              </a:ext>
            </a:extLst>
          </p:cNvPr>
          <p:cNvSpPr>
            <a:spLocks noGrp="1"/>
          </p:cNvSpPr>
          <p:nvPr>
            <p:ph type="title"/>
          </p:nvPr>
        </p:nvSpPr>
        <p:spPr>
          <a:xfrm>
            <a:off x="1451579" y="342420"/>
            <a:ext cx="9291215" cy="1049235"/>
          </a:xfrm>
        </p:spPr>
        <p:txBody>
          <a:bodyPr/>
          <a:lstStyle/>
          <a:p>
            <a:r>
              <a:rPr lang="en-US" dirty="0"/>
              <a:t>6. Final Boss: Shaman </a:t>
            </a:r>
            <a:r>
              <a:rPr lang="en-US" dirty="0" err="1"/>
              <a:t>Lornarr</a:t>
            </a:r>
            <a:r>
              <a:rPr lang="en-US" dirty="0"/>
              <a:t> </a:t>
            </a:r>
            <a:r>
              <a:rPr lang="en-US" dirty="0" err="1"/>
              <a:t>DragonSeeker</a:t>
            </a:r>
            <a:r>
              <a:rPr lang="en-US" dirty="0"/>
              <a:t> Pt. 2</a:t>
            </a:r>
          </a:p>
        </p:txBody>
      </p:sp>
      <p:sp>
        <p:nvSpPr>
          <p:cNvPr id="3" name="Content Placeholder 2">
            <a:extLst>
              <a:ext uri="{FF2B5EF4-FFF2-40B4-BE49-F238E27FC236}">
                <a16:creationId xmlns:a16="http://schemas.microsoft.com/office/drawing/2014/main" id="{B3DC6E28-B8EA-46AD-B6B2-00983AE448BA}"/>
              </a:ext>
            </a:extLst>
          </p:cNvPr>
          <p:cNvSpPr>
            <a:spLocks noGrp="1"/>
          </p:cNvSpPr>
          <p:nvPr>
            <p:ph idx="1"/>
          </p:nvPr>
        </p:nvSpPr>
        <p:spPr>
          <a:xfrm>
            <a:off x="734215" y="3215485"/>
            <a:ext cx="5752052" cy="1882312"/>
          </a:xfrm>
        </p:spPr>
        <p:txBody>
          <a:bodyPr>
            <a:normAutofit fontScale="92500" lnSpcReduction="20000"/>
          </a:bodyPr>
          <a:lstStyle/>
          <a:p>
            <a:r>
              <a:rPr lang="en-US" dirty="0"/>
              <a:t>Three Phases: 75%, 50% and 25%</a:t>
            </a:r>
          </a:p>
          <a:p>
            <a:pPr lvl="1"/>
            <a:r>
              <a:rPr lang="en-US" dirty="0"/>
              <a:t>At these phases, the boss disappears, and an </a:t>
            </a:r>
            <a:r>
              <a:rPr lang="en-US" dirty="0" err="1"/>
              <a:t>Icebrood</a:t>
            </a:r>
            <a:r>
              <a:rPr lang="en-US" dirty="0"/>
              <a:t> Effigy comes out.</a:t>
            </a:r>
          </a:p>
          <a:p>
            <a:pPr lvl="1"/>
            <a:r>
              <a:rPr lang="en-US" dirty="0"/>
              <a:t>Watch out for it’s multi-</a:t>
            </a:r>
            <a:r>
              <a:rPr lang="en-US" dirty="0" err="1"/>
              <a:t>aoes</a:t>
            </a:r>
            <a:r>
              <a:rPr lang="en-US" dirty="0"/>
              <a:t> that pops out! Ice shards will come down just like one of the bosses mechanic</a:t>
            </a:r>
          </a:p>
        </p:txBody>
      </p:sp>
      <p:pic>
        <p:nvPicPr>
          <p:cNvPr id="5" name="Picture 4">
            <a:extLst>
              <a:ext uri="{FF2B5EF4-FFF2-40B4-BE49-F238E27FC236}">
                <a16:creationId xmlns:a16="http://schemas.microsoft.com/office/drawing/2014/main" id="{D0A993D2-1A27-40FC-A8BC-F5217B31D398}"/>
              </a:ext>
            </a:extLst>
          </p:cNvPr>
          <p:cNvPicPr>
            <a:picLocks noChangeAspect="1"/>
          </p:cNvPicPr>
          <p:nvPr/>
        </p:nvPicPr>
        <p:blipFill rotWithShape="1">
          <a:blip r:embed="rId2"/>
          <a:srcRect l="8932" t="7045" b="7271"/>
          <a:stretch/>
        </p:blipFill>
        <p:spPr>
          <a:xfrm>
            <a:off x="6486267" y="2910372"/>
            <a:ext cx="5234731" cy="2187593"/>
          </a:xfrm>
          <a:prstGeom prst="rect">
            <a:avLst/>
          </a:prstGeom>
        </p:spPr>
      </p:pic>
      <p:pic>
        <p:nvPicPr>
          <p:cNvPr id="6" name="Picture 5">
            <a:extLst>
              <a:ext uri="{FF2B5EF4-FFF2-40B4-BE49-F238E27FC236}">
                <a16:creationId xmlns:a16="http://schemas.microsoft.com/office/drawing/2014/main" id="{0F91CD62-0221-4B5B-9A0A-42F3269D2E2F}"/>
              </a:ext>
            </a:extLst>
          </p:cNvPr>
          <p:cNvPicPr>
            <a:picLocks noChangeAspect="1"/>
          </p:cNvPicPr>
          <p:nvPr/>
        </p:nvPicPr>
        <p:blipFill>
          <a:blip r:embed="rId3"/>
          <a:stretch>
            <a:fillRect/>
          </a:stretch>
        </p:blipFill>
        <p:spPr>
          <a:xfrm>
            <a:off x="1798799" y="1391655"/>
            <a:ext cx="1965113" cy="1667224"/>
          </a:xfrm>
          <a:prstGeom prst="rect">
            <a:avLst/>
          </a:prstGeom>
        </p:spPr>
      </p:pic>
      <p:sp>
        <p:nvSpPr>
          <p:cNvPr id="8" name="TextBox 7">
            <a:extLst>
              <a:ext uri="{FF2B5EF4-FFF2-40B4-BE49-F238E27FC236}">
                <a16:creationId xmlns:a16="http://schemas.microsoft.com/office/drawing/2014/main" id="{69BA2D98-12ED-4B4D-AACD-CB2FE7164B6D}"/>
              </a:ext>
            </a:extLst>
          </p:cNvPr>
          <p:cNvSpPr txBox="1"/>
          <p:nvPr/>
        </p:nvSpPr>
        <p:spPr>
          <a:xfrm>
            <a:off x="3763912" y="1572397"/>
            <a:ext cx="6294489" cy="984180"/>
          </a:xfrm>
          <a:prstGeom prst="rect">
            <a:avLst/>
          </a:prstGeom>
          <a:noFill/>
        </p:spPr>
        <p:txBody>
          <a:bodyPr wrap="square">
            <a:spAutoFit/>
          </a:bodyPr>
          <a:lstStyle/>
          <a:p>
            <a:pPr marL="742950" lvl="1" indent="-285750">
              <a:lnSpc>
                <a:spcPct val="110000"/>
              </a:lnSpc>
              <a:buFont typeface="Arial" panose="020B0604020202020204" pitchFamily="34" charset="0"/>
              <a:buChar char="•"/>
            </a:pPr>
            <a:r>
              <a:rPr lang="en-US" sz="1800" dirty="0"/>
              <a:t>Icy Breath – The Boss won’t be able to move during this attack but you do want to stay out of it! Dodge at the last second if you want to greed DPS</a:t>
            </a:r>
          </a:p>
        </p:txBody>
      </p:sp>
      <p:sp>
        <p:nvSpPr>
          <p:cNvPr id="10" name="TextBox 9">
            <a:extLst>
              <a:ext uri="{FF2B5EF4-FFF2-40B4-BE49-F238E27FC236}">
                <a16:creationId xmlns:a16="http://schemas.microsoft.com/office/drawing/2014/main" id="{54BFBE0A-0FBB-4392-87C0-115AC4DC2F2D}"/>
              </a:ext>
            </a:extLst>
          </p:cNvPr>
          <p:cNvSpPr txBox="1"/>
          <p:nvPr/>
        </p:nvSpPr>
        <p:spPr>
          <a:xfrm>
            <a:off x="423994" y="5395232"/>
            <a:ext cx="11545348" cy="369332"/>
          </a:xfrm>
          <a:prstGeom prst="rect">
            <a:avLst/>
          </a:prstGeom>
          <a:noFill/>
        </p:spPr>
        <p:txBody>
          <a:bodyPr wrap="square">
            <a:spAutoFit/>
          </a:bodyPr>
          <a:lstStyle/>
          <a:p>
            <a:r>
              <a:rPr lang="en-US" dirty="0"/>
              <a:t>Best Strat: Focus on killing the Effigy while avoiding ice falling AOE’s to get the boss to come back out again.</a:t>
            </a:r>
          </a:p>
        </p:txBody>
      </p:sp>
    </p:spTree>
    <p:extLst>
      <p:ext uri="{BB962C8B-B14F-4D97-AF65-F5344CB8AC3E}">
        <p14:creationId xmlns:p14="http://schemas.microsoft.com/office/powerpoint/2010/main" val="16893870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085F1-5ACA-4B94-9C94-374FA2F75078}"/>
              </a:ext>
            </a:extLst>
          </p:cNvPr>
          <p:cNvSpPr>
            <a:spLocks noGrp="1"/>
          </p:cNvSpPr>
          <p:nvPr>
            <p:ph type="title"/>
          </p:nvPr>
        </p:nvSpPr>
        <p:spPr>
          <a:xfrm>
            <a:off x="1450392" y="594794"/>
            <a:ext cx="9291215" cy="1049235"/>
          </a:xfrm>
        </p:spPr>
        <p:txBody>
          <a:bodyPr/>
          <a:lstStyle/>
          <a:p>
            <a:r>
              <a:rPr lang="en-US" dirty="0"/>
              <a:t>7. Final Boss: Shaman </a:t>
            </a:r>
            <a:r>
              <a:rPr lang="en-US" dirty="0" err="1"/>
              <a:t>Lornarr</a:t>
            </a:r>
            <a:r>
              <a:rPr lang="en-US" dirty="0"/>
              <a:t> </a:t>
            </a:r>
            <a:r>
              <a:rPr lang="en-US" dirty="0" err="1"/>
              <a:t>DragonSeeker</a:t>
            </a:r>
            <a:r>
              <a:rPr lang="en-US" dirty="0"/>
              <a:t> Pt. 3</a:t>
            </a:r>
          </a:p>
        </p:txBody>
      </p:sp>
      <p:sp>
        <p:nvSpPr>
          <p:cNvPr id="3" name="Content Placeholder 2">
            <a:extLst>
              <a:ext uri="{FF2B5EF4-FFF2-40B4-BE49-F238E27FC236}">
                <a16:creationId xmlns:a16="http://schemas.microsoft.com/office/drawing/2014/main" id="{41579C35-385E-4E50-87FB-1FC722FE77CA}"/>
              </a:ext>
            </a:extLst>
          </p:cNvPr>
          <p:cNvSpPr>
            <a:spLocks noGrp="1"/>
          </p:cNvSpPr>
          <p:nvPr>
            <p:ph idx="1"/>
          </p:nvPr>
        </p:nvSpPr>
        <p:spPr>
          <a:xfrm>
            <a:off x="973407" y="2015732"/>
            <a:ext cx="4999555" cy="3875771"/>
          </a:xfrm>
        </p:spPr>
        <p:txBody>
          <a:bodyPr>
            <a:normAutofit/>
          </a:bodyPr>
          <a:lstStyle/>
          <a:p>
            <a:r>
              <a:rPr lang="en-US" dirty="0"/>
              <a:t>At 20%, the Final boss turns into a Gigantic Bear called Shaman </a:t>
            </a:r>
            <a:r>
              <a:rPr lang="en-US" dirty="0" err="1"/>
              <a:t>Lornarr</a:t>
            </a:r>
            <a:r>
              <a:rPr lang="en-US" dirty="0"/>
              <a:t> </a:t>
            </a:r>
            <a:r>
              <a:rPr lang="en-US" dirty="0" err="1"/>
              <a:t>Dragonseeker</a:t>
            </a:r>
            <a:r>
              <a:rPr lang="en-US" dirty="0"/>
              <a:t>! </a:t>
            </a:r>
          </a:p>
          <a:p>
            <a:pPr lvl="1"/>
            <a:r>
              <a:rPr lang="en-US" dirty="0"/>
              <a:t>There will be an Effigy as well so watch out for falling ice shards.</a:t>
            </a:r>
          </a:p>
          <a:p>
            <a:r>
              <a:rPr lang="en-US" dirty="0"/>
              <a:t>Best Strat: Make sure to use hard CC’s when its bar come up and kill both the boss and effigy as fast as you can.  BIG DEEPS!!</a:t>
            </a:r>
          </a:p>
          <a:p>
            <a:pPr marL="0" indent="0">
              <a:buNone/>
            </a:pPr>
            <a:endParaRPr lang="en-US" dirty="0"/>
          </a:p>
        </p:txBody>
      </p:sp>
      <p:pic>
        <p:nvPicPr>
          <p:cNvPr id="5122" name="Picture 2" descr="GW2 - Snowblind Fractal Guide - GuildJen">
            <a:extLst>
              <a:ext uri="{FF2B5EF4-FFF2-40B4-BE49-F238E27FC236}">
                <a16:creationId xmlns:a16="http://schemas.microsoft.com/office/drawing/2014/main" id="{E0375C33-AB5F-4538-97C2-36A9EB5558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9410" y="1934742"/>
            <a:ext cx="4343384" cy="4037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8455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9404C-E980-43E0-B895-30D5521D1B04}"/>
              </a:ext>
            </a:extLst>
          </p:cNvPr>
          <p:cNvSpPr>
            <a:spLocks noGrp="1"/>
          </p:cNvSpPr>
          <p:nvPr>
            <p:ph type="title"/>
          </p:nvPr>
        </p:nvSpPr>
        <p:spPr>
          <a:xfrm>
            <a:off x="2514185" y="2379765"/>
            <a:ext cx="3581815" cy="1049235"/>
          </a:xfrm>
        </p:spPr>
        <p:style>
          <a:lnRef idx="2">
            <a:schemeClr val="accent6">
              <a:shade val="50000"/>
            </a:schemeClr>
          </a:lnRef>
          <a:fillRef idx="1">
            <a:schemeClr val="accent6"/>
          </a:fillRef>
          <a:effectRef idx="0">
            <a:schemeClr val="accent6"/>
          </a:effectRef>
          <a:fontRef idx="minor">
            <a:schemeClr val="lt1"/>
          </a:fontRef>
        </p:style>
        <p:txBody>
          <a:bodyPr/>
          <a:lstStyle/>
          <a:p>
            <a:r>
              <a:rPr lang="en-US" dirty="0"/>
              <a:t>Good luck &amp; Have fun</a:t>
            </a:r>
          </a:p>
        </p:txBody>
      </p:sp>
      <p:sp>
        <p:nvSpPr>
          <p:cNvPr id="3" name="Content Placeholder 2">
            <a:extLst>
              <a:ext uri="{FF2B5EF4-FFF2-40B4-BE49-F238E27FC236}">
                <a16:creationId xmlns:a16="http://schemas.microsoft.com/office/drawing/2014/main" id="{D15EA3C7-8423-4540-8FD9-AD2CEC9FE96F}"/>
              </a:ext>
            </a:extLst>
          </p:cNvPr>
          <p:cNvSpPr>
            <a:spLocks noGrp="1"/>
          </p:cNvSpPr>
          <p:nvPr>
            <p:ph idx="1"/>
          </p:nvPr>
        </p:nvSpPr>
        <p:spPr>
          <a:xfrm>
            <a:off x="3552808" y="4598568"/>
            <a:ext cx="5086383" cy="576466"/>
          </a:xfrm>
        </p:spPr>
        <p:txBody>
          <a:bodyPr/>
          <a:lstStyle/>
          <a:p>
            <a:pPr marL="0" indent="0">
              <a:buNone/>
            </a:pPr>
            <a:r>
              <a:rPr lang="en-US" dirty="0"/>
              <a:t>If you have questions, Feel Free to DM me!</a:t>
            </a:r>
          </a:p>
        </p:txBody>
      </p:sp>
      <p:sp>
        <p:nvSpPr>
          <p:cNvPr id="4" name="Smiley Face 3">
            <a:extLst>
              <a:ext uri="{FF2B5EF4-FFF2-40B4-BE49-F238E27FC236}">
                <a16:creationId xmlns:a16="http://schemas.microsoft.com/office/drawing/2014/main" id="{3CF1C4DD-49F0-4A1C-AC6E-4337D5EF3108}"/>
              </a:ext>
            </a:extLst>
          </p:cNvPr>
          <p:cNvSpPr/>
          <p:nvPr/>
        </p:nvSpPr>
        <p:spPr>
          <a:xfrm>
            <a:off x="6660859" y="1565520"/>
            <a:ext cx="2474752" cy="2377306"/>
          </a:xfrm>
          <a:prstGeom prst="smileyFac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71530640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9D5"/>
      </a:lt2>
      <a:accent1>
        <a:srgbClr val="FB8C29"/>
      </a:accent1>
      <a:accent2>
        <a:srgbClr val="F2C351"/>
      </a:accent2>
      <a:accent3>
        <a:srgbClr val="D0CBA5"/>
      </a:accent3>
      <a:accent4>
        <a:srgbClr val="A2C476"/>
      </a:accent4>
      <a:accent5>
        <a:srgbClr val="57C293"/>
      </a:accent5>
      <a:accent6>
        <a:srgbClr val="06BFDE"/>
      </a:accent6>
      <a:hlink>
        <a:srgbClr val="FBAE29"/>
      </a:hlink>
      <a:folHlink>
        <a:srgbClr val="EDC47E"/>
      </a:folHlink>
    </a:clrScheme>
    <a:fontScheme name="Gallery">
      <a:majorFont>
        <a:latin typeface="Rockwell" panose="020606030202050204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BB5F5D82-B5E9-469E-A815-C655ED4AF243}"/>
    </a:ext>
  </a:extLst>
</a:theme>
</file>

<file path=docProps/app.xml><?xml version="1.0" encoding="utf-8"?>
<Properties xmlns="http://schemas.openxmlformats.org/officeDocument/2006/extended-properties" xmlns:vt="http://schemas.openxmlformats.org/officeDocument/2006/docPropsVTypes">
  <Template>Gallery</Template>
  <TotalTime>94</TotalTime>
  <Words>870</Words>
  <Application>Microsoft Office PowerPoint</Application>
  <PresentationFormat>Widescreen</PresentationFormat>
  <Paragraphs>41</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Rockwell</vt:lpstr>
      <vt:lpstr>Gallery</vt:lpstr>
      <vt:lpstr>Snowblind Fractal Scales:  3, 27, 51, 68, 86, 93</vt:lpstr>
      <vt:lpstr>1. Mini Game – Bonfire Pt. 1</vt:lpstr>
      <vt:lpstr>2. Mini Game – Bonfire Pt. 2</vt:lpstr>
      <vt:lpstr>3. Mini Game/Boss: Elemental Source</vt:lpstr>
      <vt:lpstr>4. Mini-Game: Forest Run through</vt:lpstr>
      <vt:lpstr>5. Final Boss: Legendary Shaman Lornarr Dragonseeker Pt. 1</vt:lpstr>
      <vt:lpstr>6. Final Boss: Shaman Lornarr DragonSeeker Pt. 2</vt:lpstr>
      <vt:lpstr>7. Final Boss: Shaman Lornarr DragonSeeker Pt. 3</vt:lpstr>
      <vt:lpstr>Good luck &amp; Have fun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Snowblind Fractal Scales:  3, 27, 51, 68, 86, 93</dc:title>
  <dc:creator>Michelle You</dc:creator>
  <cp:lastModifiedBy>Michelle You</cp:lastModifiedBy>
  <cp:revision>7</cp:revision>
  <dcterms:created xsi:type="dcterms:W3CDTF">2022-04-05T19:17:26Z</dcterms:created>
  <dcterms:modified xsi:type="dcterms:W3CDTF">2022-04-24T05:29:25Z</dcterms:modified>
</cp:coreProperties>
</file>